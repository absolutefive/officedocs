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3716000" cy="10287000"/>
  <p:notesSz cx="1028700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문서명·기간·작성 주체·문서번호를 한 화면에서 확인시키고 바로 요약으로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섹션 간지. 섹션 번호와 하위 논점 3개를 미리 보여줘 흐름을 예고합니다.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장 요약. 지표 3개 → 결론 3개 → 판단 요청 순서로 읽습니다. 이 장만으로 보고가 성립해야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officedocs content 레이아웃 프로토타입. 속지별 타이틀과 머리말만 치환되고 본문 영역은 비어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계획 대비 실적 추이. 막대 높이는 값에 비례하게 유지하고, 우측 요약 3줄은 차트에서 읽히지 않는 원인만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단계별 금액·건수·전환율. 병목 단계를 하나만 지목하고 대응을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하반기 실행 계획. 트랙별 담당과 마일스톤 날짜를 함께 보여 책임 소재를 분명히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리스크는 영향·가능성·대응·담당을 한 행으로. 등급 칩 색만 바꿔 재사용합니다.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승인 요청 3건과 다음 단계. 요청은 숫자와 기한을 명시합니다.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장표를 추가할 때 이 페이지의 도형을 복사해 쓰세요. 모두 같은 색·선 굵기 규칙을 따릅니다.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800100"/>
            <a:ext cx="2616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0" kern="0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영업본부 · 경영진 보고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335048" y="800100"/>
            <a:ext cx="17389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YYYY. MM. DD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800100" y="1314450"/>
            <a:ext cx="121158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4157365"/>
            <a:ext cx="13327380" cy="974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677"/>
              </a:lnSpc>
              <a:buNone/>
            </a:pPr>
            <a:r>
              <a:rPr lang="en-US" sz="5850" b="1" spc="-205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프로젝트(솔루션)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800100" y="5379095"/>
            <a:ext cx="1332738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65"/>
              </a:lnSpc>
              <a:buNone/>
            </a:pPr>
            <a:r>
              <a:rPr lang="en-US" sz="2100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문서(기능)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00100" y="8639175"/>
            <a:ext cx="121158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8" name="Text 6"/>
          <p:cNvSpPr/>
          <p:nvPr/>
        </p:nvSpPr>
        <p:spPr>
          <a:xfrm>
            <a:off x="800100" y="8915400"/>
            <a:ext cx="31432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800100" y="9210675"/>
            <a:ext cx="31432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작성자명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86200" y="8915400"/>
            <a:ext cx="31432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기간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3886200" y="9210675"/>
            <a:ext cx="31432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01 – 06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72300" y="8915400"/>
            <a:ext cx="31432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 대상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6972300" y="9210675"/>
            <a:ext cx="31432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경영진 · 영업임원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0" y="8915400"/>
            <a:ext cx="31432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문서번호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0058400" y="9210675"/>
            <a:ext cx="31432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SLS-2026-H1-07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4A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800100"/>
            <a:ext cx="131689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0" kern="0" dirty="0">
                <a:solidFill>
                  <a:srgbClr val="9EBC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268349" y="800100"/>
            <a:ext cx="72375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9D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04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338638"/>
            <a:ext cx="1332738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spc="-178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제목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800100" y="5376863"/>
            <a:ext cx="12115800" cy="9525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00100" y="5653088"/>
            <a:ext cx="12086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4D5E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달성률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275433" y="5653088"/>
            <a:ext cx="1391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84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681288" y="5653088"/>
            <a:ext cx="12086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4D5E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부문별 수주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156621" y="5653088"/>
            <a:ext cx="1391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84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562475" y="5653088"/>
            <a:ext cx="17165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4D5E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 전환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00100" y="9239250"/>
            <a:ext cx="133273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9D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프로젝트(솔루션)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93106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요약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282559" y="571500"/>
            <a:ext cx="39966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상반기 영업 실적 및 하반기 운영 계획 · 03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상반기 104% 달성, 하반기는 금융 이월 물량이 변수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00100" y="1962150"/>
            <a:ext cx="12115800" cy="150495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7" name="Shape 5"/>
          <p:cNvSpPr/>
          <p:nvPr/>
        </p:nvSpPr>
        <p:spPr>
          <a:xfrm>
            <a:off x="800100" y="1962150"/>
            <a:ext cx="4032200" cy="150495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2171700"/>
            <a:ext cx="38905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/ 계획 337억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47750" y="2476500"/>
            <a:ext cx="38905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3750" b="1" spc="-112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337억</a:t>
            </a:r>
            <a:endParaRPr lang="en-US" sz="3750" dirty="0"/>
          </a:p>
        </p:txBody>
      </p:sp>
      <p:sp>
        <p:nvSpPr>
          <p:cNvPr id="10" name="Text 8"/>
          <p:cNvSpPr/>
          <p:nvPr/>
        </p:nvSpPr>
        <p:spPr>
          <a:xfrm>
            <a:off x="1047750" y="3028950"/>
            <a:ext cx="38905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대비 +4.1%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1825" y="1962150"/>
            <a:ext cx="4032200" cy="150495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2" name="Text 10"/>
          <p:cNvSpPr/>
          <p:nvPr/>
        </p:nvSpPr>
        <p:spPr>
          <a:xfrm>
            <a:off x="5089475" y="2171700"/>
            <a:ext cx="38905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수주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89475" y="2476500"/>
            <a:ext cx="38905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3750" b="1" spc="-112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412억</a:t>
            </a:r>
            <a:endParaRPr lang="en-US" sz="3750" dirty="0"/>
          </a:p>
        </p:txBody>
      </p:sp>
      <p:sp>
        <p:nvSpPr>
          <p:cNvPr id="14" name="Text 12"/>
          <p:cNvSpPr/>
          <p:nvPr/>
        </p:nvSpPr>
        <p:spPr>
          <a:xfrm>
            <a:off x="5089475" y="3028950"/>
            <a:ext cx="38905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전년 동기 +12.6%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883551" y="1962150"/>
            <a:ext cx="4032349" cy="150495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6" name="Text 14"/>
          <p:cNvSpPr/>
          <p:nvPr/>
        </p:nvSpPr>
        <p:spPr>
          <a:xfrm>
            <a:off x="9131201" y="2171700"/>
            <a:ext cx="38907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 (가중 618억)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31201" y="2476500"/>
            <a:ext cx="389075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3750" b="1" spc="-112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1,140억</a:t>
            </a:r>
            <a:endParaRPr lang="en-US" sz="3750" dirty="0"/>
          </a:p>
        </p:txBody>
      </p:sp>
      <p:sp>
        <p:nvSpPr>
          <p:cNvPr id="18" name="Text 16"/>
          <p:cNvSpPr/>
          <p:nvPr/>
        </p:nvSpPr>
        <p:spPr>
          <a:xfrm>
            <a:off x="9131201" y="3028950"/>
            <a:ext cx="38907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0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 만료 물량 22%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0100" y="3714750"/>
            <a:ext cx="121158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20" name="Shape 18"/>
          <p:cNvSpPr/>
          <p:nvPr/>
        </p:nvSpPr>
        <p:spPr>
          <a:xfrm>
            <a:off x="6990606" y="3724275"/>
            <a:ext cx="9525" cy="520065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" y="3952875"/>
            <a:ext cx="634854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0100" y="4333875"/>
            <a:ext cx="341412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6762" y="4333875"/>
            <a:ext cx="5494786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 대형 2건 조기 마감으로 상반기 목표를 초과했습니다. 단발성 기여분 42억을 제외하면 실질 성장은 +6%입니다.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00100" y="5194697"/>
            <a:ext cx="373410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68760" y="5194697"/>
            <a:ext cx="5461828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3건(94억)이 예산 집행 지연으로 하반기 이월되어 3분기 매출 인식 시점이 유동적입니다.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00100" y="6055519"/>
            <a:ext cx="379809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75159" y="6055519"/>
            <a:ext cx="5455237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고객 비중이 27%로 6%p 올라, 하반기 레퍼런스 기반 확장 여력이 확보되었습니다.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19231" y="3952875"/>
            <a:ext cx="604633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부문별 요약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419231" y="4314825"/>
            <a:ext cx="2698105" cy="4572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0" name="Text 28"/>
          <p:cNvSpPr/>
          <p:nvPr/>
        </p:nvSpPr>
        <p:spPr>
          <a:xfrm>
            <a:off x="7552581" y="4429125"/>
            <a:ext cx="264569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부문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0117336" y="4314825"/>
            <a:ext cx="955477" cy="4572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2" name="Text 30"/>
          <p:cNvSpPr/>
          <p:nvPr/>
        </p:nvSpPr>
        <p:spPr>
          <a:xfrm>
            <a:off x="10231636" y="4429125"/>
            <a:ext cx="6506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1072813" y="4314825"/>
            <a:ext cx="971996" cy="4572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4" name="Text 32"/>
          <p:cNvSpPr/>
          <p:nvPr/>
        </p:nvSpPr>
        <p:spPr>
          <a:xfrm>
            <a:off x="11187113" y="4429125"/>
            <a:ext cx="6671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달성률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2044809" y="4314825"/>
            <a:ext cx="871091" cy="4572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6" name="Text 34"/>
          <p:cNvSpPr/>
          <p:nvPr/>
        </p:nvSpPr>
        <p:spPr>
          <a:xfrm>
            <a:off x="12159109" y="4429125"/>
            <a:ext cx="6234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YoY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419231" y="5286375"/>
            <a:ext cx="2698105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8" name="Text 36"/>
          <p:cNvSpPr/>
          <p:nvPr/>
        </p:nvSpPr>
        <p:spPr>
          <a:xfrm>
            <a:off x="7552581" y="4905375"/>
            <a:ext cx="26456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0117336" y="5286375"/>
            <a:ext cx="95547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0" name="Text 38"/>
          <p:cNvSpPr/>
          <p:nvPr/>
        </p:nvSpPr>
        <p:spPr>
          <a:xfrm>
            <a:off x="10231636" y="4905375"/>
            <a:ext cx="6506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182억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1072813" y="5286375"/>
            <a:ext cx="971996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2" name="Text 40"/>
          <p:cNvSpPr/>
          <p:nvPr/>
        </p:nvSpPr>
        <p:spPr>
          <a:xfrm>
            <a:off x="11187113" y="4905375"/>
            <a:ext cx="6671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118%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2044809" y="5286375"/>
            <a:ext cx="871091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4" name="Text 42"/>
          <p:cNvSpPr/>
          <p:nvPr/>
        </p:nvSpPr>
        <p:spPr>
          <a:xfrm>
            <a:off x="12159109" y="4905375"/>
            <a:ext cx="6234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+18%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7419231" y="5810250"/>
            <a:ext cx="2698105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6" name="Text 44"/>
          <p:cNvSpPr/>
          <p:nvPr/>
        </p:nvSpPr>
        <p:spPr>
          <a:xfrm>
            <a:off x="7552581" y="5429250"/>
            <a:ext cx="26456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0117336" y="5810250"/>
            <a:ext cx="95547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8" name="Text 46"/>
          <p:cNvSpPr/>
          <p:nvPr/>
        </p:nvSpPr>
        <p:spPr>
          <a:xfrm>
            <a:off x="10231636" y="5429250"/>
            <a:ext cx="6506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94억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1072813" y="5810250"/>
            <a:ext cx="971996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0" name="Text 48"/>
          <p:cNvSpPr/>
          <p:nvPr/>
        </p:nvSpPr>
        <p:spPr>
          <a:xfrm>
            <a:off x="11187113" y="5429250"/>
            <a:ext cx="6671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A0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87%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12044809" y="5810250"/>
            <a:ext cx="871091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2" name="Text 50"/>
          <p:cNvSpPr/>
          <p:nvPr/>
        </p:nvSpPr>
        <p:spPr>
          <a:xfrm>
            <a:off x="12159109" y="5429250"/>
            <a:ext cx="6234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-4%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7419231" y="6334125"/>
            <a:ext cx="2698105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4" name="Text 52"/>
          <p:cNvSpPr/>
          <p:nvPr/>
        </p:nvSpPr>
        <p:spPr>
          <a:xfrm>
            <a:off x="7552581" y="5953125"/>
            <a:ext cx="26456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제조·유통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10117336" y="6334125"/>
            <a:ext cx="95547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6" name="Text 54"/>
          <p:cNvSpPr/>
          <p:nvPr/>
        </p:nvSpPr>
        <p:spPr>
          <a:xfrm>
            <a:off x="10231636" y="5953125"/>
            <a:ext cx="6506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61억</a:t>
            </a:r>
            <a:endParaRPr lang="en-US" sz="1650" dirty="0"/>
          </a:p>
        </p:txBody>
      </p:sp>
      <p:sp>
        <p:nvSpPr>
          <p:cNvPr id="57" name="Shape 55"/>
          <p:cNvSpPr/>
          <p:nvPr/>
        </p:nvSpPr>
        <p:spPr>
          <a:xfrm>
            <a:off x="11072813" y="6334125"/>
            <a:ext cx="971996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8" name="Text 56"/>
          <p:cNvSpPr/>
          <p:nvPr/>
        </p:nvSpPr>
        <p:spPr>
          <a:xfrm>
            <a:off x="11187113" y="5953125"/>
            <a:ext cx="6671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103%</a:t>
            </a:r>
            <a:endParaRPr lang="en-US" sz="1650" dirty="0"/>
          </a:p>
        </p:txBody>
      </p:sp>
      <p:sp>
        <p:nvSpPr>
          <p:cNvPr id="59" name="Shape 57"/>
          <p:cNvSpPr/>
          <p:nvPr/>
        </p:nvSpPr>
        <p:spPr>
          <a:xfrm>
            <a:off x="12044809" y="6334125"/>
            <a:ext cx="871091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60" name="Text 58"/>
          <p:cNvSpPr/>
          <p:nvPr/>
        </p:nvSpPr>
        <p:spPr>
          <a:xfrm>
            <a:off x="12159109" y="5953125"/>
            <a:ext cx="6234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+9%</a:t>
            </a:r>
            <a:endParaRPr lang="en-US" sz="1650" dirty="0"/>
          </a:p>
        </p:txBody>
      </p:sp>
      <p:sp>
        <p:nvSpPr>
          <p:cNvPr id="61" name="Shape 59"/>
          <p:cNvSpPr/>
          <p:nvPr/>
        </p:nvSpPr>
        <p:spPr>
          <a:xfrm>
            <a:off x="7419231" y="6858000"/>
            <a:ext cx="2698105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62" name="Text 60"/>
          <p:cNvSpPr/>
          <p:nvPr/>
        </p:nvSpPr>
        <p:spPr>
          <a:xfrm>
            <a:off x="7552581" y="6477000"/>
            <a:ext cx="26456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</a:t>
            </a:r>
            <a:endParaRPr lang="en-US" sz="1650" dirty="0"/>
          </a:p>
        </p:txBody>
      </p:sp>
      <p:sp>
        <p:nvSpPr>
          <p:cNvPr id="63" name="Shape 61"/>
          <p:cNvSpPr/>
          <p:nvPr/>
        </p:nvSpPr>
        <p:spPr>
          <a:xfrm>
            <a:off x="10117336" y="6858000"/>
            <a:ext cx="955477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64" name="Text 62"/>
          <p:cNvSpPr/>
          <p:nvPr/>
        </p:nvSpPr>
        <p:spPr>
          <a:xfrm>
            <a:off x="10231636" y="6477000"/>
            <a:ext cx="6506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337억</a:t>
            </a:r>
            <a:endParaRPr lang="en-US" sz="1650" dirty="0"/>
          </a:p>
        </p:txBody>
      </p:sp>
      <p:sp>
        <p:nvSpPr>
          <p:cNvPr id="65" name="Shape 63"/>
          <p:cNvSpPr/>
          <p:nvPr/>
        </p:nvSpPr>
        <p:spPr>
          <a:xfrm>
            <a:off x="11072813" y="6858000"/>
            <a:ext cx="971996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66" name="Text 64"/>
          <p:cNvSpPr/>
          <p:nvPr/>
        </p:nvSpPr>
        <p:spPr>
          <a:xfrm>
            <a:off x="11187113" y="6477000"/>
            <a:ext cx="6671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104%</a:t>
            </a:r>
            <a:endParaRPr lang="en-US" sz="1650" dirty="0"/>
          </a:p>
        </p:txBody>
      </p:sp>
      <p:sp>
        <p:nvSpPr>
          <p:cNvPr id="67" name="Shape 65"/>
          <p:cNvSpPr/>
          <p:nvPr/>
        </p:nvSpPr>
        <p:spPr>
          <a:xfrm>
            <a:off x="12044809" y="6858000"/>
            <a:ext cx="871091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68" name="Text 66"/>
          <p:cNvSpPr/>
          <p:nvPr/>
        </p:nvSpPr>
        <p:spPr>
          <a:xfrm>
            <a:off x="12159109" y="6477000"/>
            <a:ext cx="6234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+11%</a:t>
            </a:r>
            <a:endParaRPr lang="en-US" sz="1650" dirty="0"/>
          </a:p>
        </p:txBody>
      </p:sp>
      <p:sp>
        <p:nvSpPr>
          <p:cNvPr id="69" name="Shape 67"/>
          <p:cNvSpPr/>
          <p:nvPr/>
        </p:nvSpPr>
        <p:spPr>
          <a:xfrm>
            <a:off x="800100" y="9134475"/>
            <a:ext cx="12115800" cy="6572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70" name="Shape 68"/>
          <p:cNvSpPr/>
          <p:nvPr/>
        </p:nvSpPr>
        <p:spPr>
          <a:xfrm>
            <a:off x="800100" y="9134475"/>
            <a:ext cx="47625" cy="657225"/>
          </a:xfrm>
          <a:prstGeom prst="rect">
            <a:avLst/>
          </a:prstGeom>
          <a:solidFill>
            <a:srgbClr val="1F4A6F"/>
          </a:solidFill>
          <a:ln/>
        </p:spPr>
      </p:sp>
      <p:sp>
        <p:nvSpPr>
          <p:cNvPr id="71" name="Text 69"/>
          <p:cNvSpPr/>
          <p:nvPr/>
        </p:nvSpPr>
        <p:spPr>
          <a:xfrm>
            <a:off x="1095375" y="9324975"/>
            <a:ext cx="53700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요청 · 하반기 금융 목표를 94억 → 70억으로 조정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8448824" y="9344025"/>
            <a:ext cx="464136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· 이월 3건 중 2건 4분기 확정, 1건 내년 이관 협의</a:t>
            </a:r>
            <a:endParaRPr lang="en-US" sz="15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6616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섹션명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633448" y="571500"/>
            <a:ext cx="14106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프로젝트(솔루션)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속지별 타이틀</a:t>
            </a:r>
            <a:endParaRPr lang="en-US" sz="3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3258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실적 요약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286429" y="571500"/>
            <a:ext cx="399241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상반기 영업 실적 및 하반기 운영 계획 · 05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 매출은 6개 분기 연속 계획선 위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00100" y="2019300"/>
            <a:ext cx="190500" cy="190500"/>
          </a:xfrm>
          <a:prstGeom prst="rect">
            <a:avLst/>
          </a:prstGeom>
          <a:solidFill>
            <a:srgbClr val="1F4A6F"/>
          </a:solidFill>
          <a:ln/>
        </p:spPr>
      </p:sp>
      <p:sp>
        <p:nvSpPr>
          <p:cNvPr id="7" name="Text 5"/>
          <p:cNvSpPr/>
          <p:nvPr/>
        </p:nvSpPr>
        <p:spPr>
          <a:xfrm>
            <a:off x="1085850" y="2000250"/>
            <a:ext cx="4055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실적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662857" y="2019300"/>
            <a:ext cx="190500" cy="190500"/>
          </a:xfrm>
          <a:prstGeom prst="rect">
            <a:avLst/>
          </a:prstGeom>
          <a:solidFill>
            <a:srgbClr val="CDD6DE"/>
          </a:solidFill>
          <a:ln/>
        </p:spPr>
      </p:sp>
      <p:sp>
        <p:nvSpPr>
          <p:cNvPr id="9" name="Text 7"/>
          <p:cNvSpPr/>
          <p:nvPr/>
        </p:nvSpPr>
        <p:spPr>
          <a:xfrm>
            <a:off x="1948607" y="2000250"/>
            <a:ext cx="4055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98469" y="2005013"/>
            <a:ext cx="83864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 · 억원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800100" y="8829675"/>
            <a:ext cx="6760815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12" name="Text 10"/>
          <p:cNvSpPr/>
          <p:nvPr/>
        </p:nvSpPr>
        <p:spPr>
          <a:xfrm>
            <a:off x="1073051" y="7248525"/>
            <a:ext cx="3871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128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0100" y="7572375"/>
            <a:ext cx="409277" cy="1257300"/>
          </a:xfrm>
          <a:prstGeom prst="rect">
            <a:avLst/>
          </a:prstGeom>
          <a:solidFill>
            <a:srgbClr val="CDD6D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47477" y="7629525"/>
            <a:ext cx="409426" cy="1200150"/>
          </a:xfrm>
          <a:prstGeom prst="rect">
            <a:avLst/>
          </a:prstGeom>
          <a:solidFill>
            <a:srgbClr val="1F4A6F"/>
          </a:solidFill>
          <a:ln/>
        </p:spPr>
      </p:sp>
      <p:sp>
        <p:nvSpPr>
          <p:cNvPr id="15" name="Text 13"/>
          <p:cNvSpPr/>
          <p:nvPr/>
        </p:nvSpPr>
        <p:spPr>
          <a:xfrm>
            <a:off x="2252067" y="7115175"/>
            <a:ext cx="3905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980754" y="7515225"/>
            <a:ext cx="409426" cy="1314450"/>
          </a:xfrm>
          <a:prstGeom prst="rect">
            <a:avLst/>
          </a:prstGeom>
          <a:solidFill>
            <a:srgbClr val="CDD6DE"/>
          </a:solidFill>
          <a:ln/>
        </p:spPr>
      </p:sp>
      <p:sp>
        <p:nvSpPr>
          <p:cNvPr id="17" name="Shape 15"/>
          <p:cNvSpPr/>
          <p:nvPr/>
        </p:nvSpPr>
        <p:spPr>
          <a:xfrm>
            <a:off x="2428280" y="7439025"/>
            <a:ext cx="409426" cy="1390650"/>
          </a:xfrm>
          <a:prstGeom prst="rect">
            <a:avLst/>
          </a:prstGeom>
          <a:solidFill>
            <a:srgbClr val="1F4A6F"/>
          </a:solidFill>
          <a:ln/>
        </p:spPr>
      </p:sp>
      <p:sp>
        <p:nvSpPr>
          <p:cNvPr id="18" name="Text 16"/>
          <p:cNvSpPr/>
          <p:nvPr/>
        </p:nvSpPr>
        <p:spPr>
          <a:xfrm>
            <a:off x="3449538" y="7019925"/>
            <a:ext cx="3570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161556" y="7400925"/>
            <a:ext cx="409426" cy="1428750"/>
          </a:xfrm>
          <a:prstGeom prst="rect">
            <a:avLst/>
          </a:prstGeom>
          <a:solidFill>
            <a:srgbClr val="CDD6DE"/>
          </a:solidFill>
          <a:ln/>
        </p:spPr>
      </p:sp>
      <p:sp>
        <p:nvSpPr>
          <p:cNvPr id="20" name="Shape 18"/>
          <p:cNvSpPr/>
          <p:nvPr/>
        </p:nvSpPr>
        <p:spPr>
          <a:xfrm>
            <a:off x="3609082" y="7343775"/>
            <a:ext cx="409426" cy="1485900"/>
          </a:xfrm>
          <a:prstGeom prst="rect">
            <a:avLst/>
          </a:prstGeom>
          <a:solidFill>
            <a:srgbClr val="1F4A6F"/>
          </a:solidFill>
          <a:ln/>
        </p:spPr>
      </p:sp>
      <p:sp>
        <p:nvSpPr>
          <p:cNvPr id="21" name="Text 19"/>
          <p:cNvSpPr/>
          <p:nvPr/>
        </p:nvSpPr>
        <p:spPr>
          <a:xfrm>
            <a:off x="4612779" y="6848475"/>
            <a:ext cx="39216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168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342358" y="7248525"/>
            <a:ext cx="409426" cy="1581150"/>
          </a:xfrm>
          <a:prstGeom prst="rect">
            <a:avLst/>
          </a:prstGeom>
          <a:solidFill>
            <a:srgbClr val="CDD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4789884" y="7172325"/>
            <a:ext cx="409426" cy="1657350"/>
          </a:xfrm>
          <a:prstGeom prst="rect">
            <a:avLst/>
          </a:prstGeom>
          <a:solidFill>
            <a:srgbClr val="1F4A6F"/>
          </a:solidFill>
          <a:ln/>
        </p:spPr>
      </p:sp>
      <p:sp>
        <p:nvSpPr>
          <p:cNvPr id="24" name="Text 22"/>
          <p:cNvSpPr/>
          <p:nvPr/>
        </p:nvSpPr>
        <p:spPr>
          <a:xfrm>
            <a:off x="5785991" y="6943725"/>
            <a:ext cx="4073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159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523161" y="7305675"/>
            <a:ext cx="409426" cy="1524000"/>
          </a:xfrm>
          <a:prstGeom prst="rect">
            <a:avLst/>
          </a:prstGeom>
          <a:solidFill>
            <a:srgbClr val="CDD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5970687" y="7267575"/>
            <a:ext cx="409426" cy="1562100"/>
          </a:xfrm>
          <a:prstGeom prst="rect">
            <a:avLst/>
          </a:prstGeom>
          <a:solidFill>
            <a:srgbClr val="1F4A6F"/>
          </a:solidFill>
          <a:ln/>
        </p:spPr>
      </p:sp>
      <p:sp>
        <p:nvSpPr>
          <p:cNvPr id="27" name="Text 25"/>
          <p:cNvSpPr/>
          <p:nvPr/>
        </p:nvSpPr>
        <p:spPr>
          <a:xfrm>
            <a:off x="6972895" y="6753225"/>
            <a:ext cx="3951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178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703963" y="7191375"/>
            <a:ext cx="409426" cy="1638300"/>
          </a:xfrm>
          <a:prstGeom prst="rect">
            <a:avLst/>
          </a:prstGeom>
          <a:solidFill>
            <a:srgbClr val="CDD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7151489" y="7077075"/>
            <a:ext cx="409426" cy="1752600"/>
          </a:xfrm>
          <a:prstGeom prst="rect">
            <a:avLst/>
          </a:prstGeom>
          <a:solidFill>
            <a:srgbClr val="1F4A6F"/>
          </a:solidFill>
          <a:ln/>
        </p:spPr>
      </p:sp>
      <p:sp>
        <p:nvSpPr>
          <p:cNvPr id="30" name="Text 28"/>
          <p:cNvSpPr/>
          <p:nvPr/>
        </p:nvSpPr>
        <p:spPr>
          <a:xfrm>
            <a:off x="762000" y="8972550"/>
            <a:ext cx="93300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3Q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942654" y="8972550"/>
            <a:ext cx="9331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4Q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123456" y="8972550"/>
            <a:ext cx="9331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1Q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304258" y="8972550"/>
            <a:ext cx="9331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2Q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5061" y="8972550"/>
            <a:ext cx="9331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1Q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665863" y="8972550"/>
            <a:ext cx="9331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2Q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980015" y="2000250"/>
            <a:ext cx="9525" cy="720090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37" name="Text 35"/>
          <p:cNvSpPr/>
          <p:nvPr/>
        </p:nvSpPr>
        <p:spPr>
          <a:xfrm>
            <a:off x="8408640" y="2000250"/>
            <a:ext cx="49579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법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408640" y="2419350"/>
            <a:ext cx="4642478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429"/>
              </a:lnSpc>
              <a:buNone/>
            </a:pPr>
            <a:r>
              <a:rPr lang="en-US" sz="172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1분기 성장 둔화는 공공 예산 편성 시점 때문이며, 2분기에 조기 마감으로 회복되었습니다.</a:t>
            </a:r>
            <a:endParaRPr lang="en-US" sz="1725" dirty="0"/>
          </a:p>
        </p:txBody>
      </p:sp>
      <p:sp>
        <p:nvSpPr>
          <p:cNvPr id="39" name="Shape 37"/>
          <p:cNvSpPr/>
          <p:nvPr/>
        </p:nvSpPr>
        <p:spPr>
          <a:xfrm>
            <a:off x="8408640" y="3310830"/>
            <a:ext cx="450726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0" name="Text 38"/>
          <p:cNvSpPr/>
          <p:nvPr/>
        </p:nvSpPr>
        <p:spPr>
          <a:xfrm>
            <a:off x="8408640" y="3510855"/>
            <a:ext cx="17094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 분기 평균 성장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2301686" y="3510855"/>
            <a:ext cx="6904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+7.2%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8408640" y="3891855"/>
            <a:ext cx="17674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대비 평균 편차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2252275" y="3891855"/>
            <a:ext cx="7398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+3.4%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8408640" y="4272855"/>
            <a:ext cx="206586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 변동성 (표준편차)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2534602" y="4272855"/>
            <a:ext cx="4574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17.8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8408640" y="4653855"/>
            <a:ext cx="9825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 계획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2567791" y="4653855"/>
            <a:ext cx="42430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A0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175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8408640" y="5092005"/>
            <a:ext cx="4507260" cy="667643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49" name="Shape 47"/>
          <p:cNvSpPr/>
          <p:nvPr/>
        </p:nvSpPr>
        <p:spPr>
          <a:xfrm>
            <a:off x="8408640" y="5092005"/>
            <a:ext cx="47625" cy="667643"/>
          </a:xfrm>
          <a:prstGeom prst="rect">
            <a:avLst/>
          </a:prstGeom>
          <a:solidFill>
            <a:srgbClr val="1F4A6F"/>
          </a:solidFill>
          <a:ln/>
        </p:spPr>
      </p:sp>
      <p:sp>
        <p:nvSpPr>
          <p:cNvPr id="50" name="Text 48"/>
          <p:cNvSpPr/>
          <p:nvPr/>
        </p:nvSpPr>
        <p:spPr>
          <a:xfrm>
            <a:off x="8665815" y="5263455"/>
            <a:ext cx="417575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3분기는 이월 물량 인식 시점에 따라 ±24억 변동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800100" y="9410700"/>
            <a:ext cx="121158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52" name="Text 50"/>
          <p:cNvSpPr/>
          <p:nvPr/>
        </p:nvSpPr>
        <p:spPr>
          <a:xfrm>
            <a:off x="800100" y="9572625"/>
            <a:ext cx="1247927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부가세 제외 · 계획은 연초 확정 목표 기준 · 26 2Q는 6월 30일 마감 실적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4882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파이프라인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283303" y="571500"/>
            <a:ext cx="3995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상반기 영업 실적 및 하반기 운영 계획 · 06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→ 협상 전환율이 병목입니다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00100" y="2000250"/>
            <a:ext cx="4588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90729" y="2000250"/>
            <a:ext cx="19606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금액 · 건수 · 전환율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0100" y="2915841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발굴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2057400" y="2734866"/>
            <a:ext cx="4191744" cy="62865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10" name="Shape 8"/>
          <p:cNvSpPr/>
          <p:nvPr/>
        </p:nvSpPr>
        <p:spPr>
          <a:xfrm>
            <a:off x="2057400" y="2734866"/>
            <a:ext cx="4191744" cy="628650"/>
          </a:xfrm>
          <a:prstGeom prst="rect">
            <a:avLst/>
          </a:prstGeom>
          <a:solidFill>
            <a:srgbClr val="1F4A6F"/>
          </a:solidFill>
          <a:ln/>
        </p:spPr>
      </p:sp>
      <p:sp>
        <p:nvSpPr>
          <p:cNvPr id="11" name="Text 9"/>
          <p:cNvSpPr/>
          <p:nvPr/>
        </p:nvSpPr>
        <p:spPr>
          <a:xfrm>
            <a:off x="2266950" y="2911078"/>
            <a:ext cx="1674272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1,140억 · 148건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82494" y="2925366"/>
            <a:ext cx="990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00100" y="4366022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2057400" y="4185047"/>
            <a:ext cx="4191744" cy="62865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15" name="Shape 13"/>
          <p:cNvSpPr/>
          <p:nvPr/>
        </p:nvSpPr>
        <p:spPr>
          <a:xfrm>
            <a:off x="2057400" y="4185047"/>
            <a:ext cx="2598837" cy="628650"/>
          </a:xfrm>
          <a:prstGeom prst="rect">
            <a:avLst/>
          </a:prstGeom>
          <a:solidFill>
            <a:srgbClr val="2E6A94"/>
          </a:solidFill>
          <a:ln/>
        </p:spPr>
      </p:sp>
      <p:sp>
        <p:nvSpPr>
          <p:cNvPr id="16" name="Text 14"/>
          <p:cNvSpPr/>
          <p:nvPr/>
        </p:nvSpPr>
        <p:spPr>
          <a:xfrm>
            <a:off x="2266950" y="4361259"/>
            <a:ext cx="1352580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706억 · 71건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82494" y="4375547"/>
            <a:ext cx="990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00100" y="5816203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A0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협상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2057400" y="5635228"/>
            <a:ext cx="4191744" cy="62865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5635228"/>
            <a:ext cx="1383209" cy="628650"/>
          </a:xfrm>
          <a:prstGeom prst="rect">
            <a:avLst/>
          </a:prstGeom>
          <a:solidFill>
            <a:srgbClr val="A05A3C"/>
          </a:solidFill>
          <a:ln/>
        </p:spPr>
      </p:sp>
      <p:sp>
        <p:nvSpPr>
          <p:cNvPr id="21" name="Text 19"/>
          <p:cNvSpPr/>
          <p:nvPr/>
        </p:nvSpPr>
        <p:spPr>
          <a:xfrm>
            <a:off x="3612059" y="5811441"/>
            <a:ext cx="1416874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376억 · 29건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82494" y="5825728"/>
            <a:ext cx="990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A0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53%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00100" y="7266384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</a:t>
            </a:r>
            <a:endParaRPr lang="en-US" sz="1725" dirty="0"/>
          </a:p>
        </p:txBody>
      </p:sp>
      <p:sp>
        <p:nvSpPr>
          <p:cNvPr id="24" name="Shape 22"/>
          <p:cNvSpPr/>
          <p:nvPr/>
        </p:nvSpPr>
        <p:spPr>
          <a:xfrm>
            <a:off x="2057400" y="7085409"/>
            <a:ext cx="4191744" cy="62865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5" name="Shape 23"/>
          <p:cNvSpPr/>
          <p:nvPr/>
        </p:nvSpPr>
        <p:spPr>
          <a:xfrm>
            <a:off x="2057400" y="7085409"/>
            <a:ext cx="754410" cy="628650"/>
          </a:xfrm>
          <a:prstGeom prst="rect">
            <a:avLst/>
          </a:prstGeom>
          <a:solidFill>
            <a:srgbClr val="4A7BA0"/>
          </a:solidFill>
          <a:ln/>
        </p:spPr>
      </p:sp>
      <p:sp>
        <p:nvSpPr>
          <p:cNvPr id="26" name="Text 24"/>
          <p:cNvSpPr/>
          <p:nvPr/>
        </p:nvSpPr>
        <p:spPr>
          <a:xfrm>
            <a:off x="2983260" y="7261622"/>
            <a:ext cx="1395264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205억 · 16건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82494" y="7275909"/>
            <a:ext cx="990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55%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800100" y="8277225"/>
            <a:ext cx="6572994" cy="9239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29" name="Shape 27"/>
          <p:cNvSpPr/>
          <p:nvPr/>
        </p:nvSpPr>
        <p:spPr>
          <a:xfrm>
            <a:off x="800100" y="8277225"/>
            <a:ext cx="2184648" cy="9239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0" name="Text 28"/>
          <p:cNvSpPr/>
          <p:nvPr/>
        </p:nvSpPr>
        <p:spPr>
          <a:xfrm>
            <a:off x="990600" y="8429625"/>
            <a:ext cx="198401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가중 파이프라인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990600" y="8705850"/>
            <a:ext cx="19840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618억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2994273" y="8277225"/>
            <a:ext cx="2184648" cy="9239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3" name="Text 31"/>
          <p:cNvSpPr/>
          <p:nvPr/>
        </p:nvSpPr>
        <p:spPr>
          <a:xfrm>
            <a:off x="3184773" y="8429625"/>
            <a:ext cx="198401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딜 규모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3184773" y="8705850"/>
            <a:ext cx="19840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7.7억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5188446" y="8277225"/>
            <a:ext cx="2184648" cy="9239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6" name="Text 34"/>
          <p:cNvSpPr/>
          <p:nvPr/>
        </p:nvSpPr>
        <p:spPr>
          <a:xfrm>
            <a:off x="5378946" y="8429625"/>
            <a:ext cx="198401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리드타임</a:t>
            </a:r>
            <a:endParaRPr lang="en-US" sz="1425" dirty="0"/>
          </a:p>
        </p:txBody>
      </p:sp>
      <p:sp>
        <p:nvSpPr>
          <p:cNvPr id="37" name="Text 35"/>
          <p:cNvSpPr/>
          <p:nvPr/>
        </p:nvSpPr>
        <p:spPr>
          <a:xfrm>
            <a:off x="5378946" y="8705850"/>
            <a:ext cx="19840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112일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7792194" y="2000250"/>
            <a:ext cx="9525" cy="720090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39" name="Text 37"/>
          <p:cNvSpPr/>
          <p:nvPr/>
        </p:nvSpPr>
        <p:spPr>
          <a:xfrm>
            <a:off x="8220819" y="2000250"/>
            <a:ext cx="516458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병목 진단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220819" y="2400300"/>
            <a:ext cx="4835933" cy="1089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429"/>
              </a:lnSpc>
              <a:buNone/>
            </a:pPr>
            <a:r>
              <a:rPr lang="en-US" sz="172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→ 협상 전환율 53%는 전년 61%보다 8%p 낮습니다. 하락분의 대부분은 금융 부문 3건 지연에서 발생했습니다.</a:t>
            </a:r>
            <a:endParaRPr lang="en-US" sz="1725" dirty="0"/>
          </a:p>
        </p:txBody>
      </p:sp>
      <p:sp>
        <p:nvSpPr>
          <p:cNvPr id="41" name="Shape 39"/>
          <p:cNvSpPr/>
          <p:nvPr/>
        </p:nvSpPr>
        <p:spPr>
          <a:xfrm>
            <a:off x="8220819" y="3623221"/>
            <a:ext cx="4695081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2" name="Text 40"/>
          <p:cNvSpPr/>
          <p:nvPr/>
        </p:nvSpPr>
        <p:spPr>
          <a:xfrm>
            <a:off x="8220819" y="3804196"/>
            <a:ext cx="516458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220819" y="4204246"/>
            <a:ext cx="31938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8597354" y="4204246"/>
            <a:ext cx="373473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협상 3주 초과 딜은 임원 동행 리뷰 의무화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8220819" y="4700439"/>
            <a:ext cx="348704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8626673" y="4700439"/>
            <a:ext cx="427007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이월 3건 예산 재확인 후 가중치 60% 적용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8220819" y="5196632"/>
            <a:ext cx="354509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8632478" y="5196632"/>
            <a:ext cx="4013374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발굴 목표를 월 12건에서 16건으로 상향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800100" y="9410700"/>
            <a:ext cx="121158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50" name="Text 48"/>
          <p:cNvSpPr/>
          <p:nvPr/>
        </p:nvSpPr>
        <p:spPr>
          <a:xfrm>
            <a:off x="800100" y="9572625"/>
            <a:ext cx="1247927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9월 1일 스냅숏 · 전환율은 직전 4개 분기 이동평균</a:t>
            </a:r>
            <a:endParaRPr lang="en-US" sz="14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5760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하반기 계획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298781" y="571500"/>
            <a:ext cx="39788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상반기 영업 실적 및 하반기 운영 계획 · 07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하반기 실행 로드맵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00100" y="23431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" y="2000250"/>
            <a:ext cx="26193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트랙 · 담당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00231" y="2000250"/>
            <a:ext cx="17846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22607" y="2000250"/>
            <a:ext cx="17846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44982" y="2000250"/>
            <a:ext cx="17846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9월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67350" y="2000250"/>
            <a:ext cx="17847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10월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89882" y="2000250"/>
            <a:ext cx="17846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212257" y="2000250"/>
            <a:ext cx="17846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0100" y="4017169"/>
            <a:ext cx="121158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2922984"/>
            <a:ext cx="26193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이월 3건 클로징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800100" y="3227784"/>
            <a:ext cx="26193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김상현 · 금융팀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3181350" y="2975372"/>
            <a:ext cx="4867275" cy="419100"/>
          </a:xfrm>
          <a:prstGeom prst="rect">
            <a:avLst/>
          </a:prstGeom>
          <a:solidFill>
            <a:srgbClr val="1F4A6F"/>
          </a:solidFill>
          <a:ln/>
        </p:spPr>
      </p:sp>
      <p:sp>
        <p:nvSpPr>
          <p:cNvPr id="18" name="Text 16"/>
          <p:cNvSpPr/>
          <p:nvPr/>
        </p:nvSpPr>
        <p:spPr>
          <a:xfrm>
            <a:off x="3352800" y="2975372"/>
            <a:ext cx="484184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재확인 · 재제안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8048625" y="2975372"/>
            <a:ext cx="1557486" cy="419100"/>
          </a:xfrm>
          <a:prstGeom prst="rect">
            <a:avLst/>
          </a:prstGeom>
          <a:solidFill>
            <a:srgbClr val="4A7BA0"/>
          </a:solidFill>
          <a:ln/>
        </p:spPr>
      </p:sp>
      <p:sp>
        <p:nvSpPr>
          <p:cNvPr id="20" name="Text 18"/>
          <p:cNvSpPr/>
          <p:nvPr/>
        </p:nvSpPr>
        <p:spPr>
          <a:xfrm>
            <a:off x="8181975" y="2975372"/>
            <a:ext cx="150033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800100" y="5691188"/>
            <a:ext cx="121158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2" name="Text 20"/>
          <p:cNvSpPr/>
          <p:nvPr/>
        </p:nvSpPr>
        <p:spPr>
          <a:xfrm>
            <a:off x="800100" y="4597003"/>
            <a:ext cx="26193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 4분기 입찰 대응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800100" y="4901803"/>
            <a:ext cx="26193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박지훈 · 공공팀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4738836" y="4649391"/>
            <a:ext cx="3309640" cy="419100"/>
          </a:xfrm>
          <a:prstGeom prst="rect">
            <a:avLst/>
          </a:prstGeom>
          <a:solidFill>
            <a:srgbClr val="CDD6DE"/>
          </a:solidFill>
          <a:ln/>
        </p:spPr>
      </p:sp>
      <p:sp>
        <p:nvSpPr>
          <p:cNvPr id="25" name="Text 23"/>
          <p:cNvSpPr/>
          <p:nvPr/>
        </p:nvSpPr>
        <p:spPr>
          <a:xfrm>
            <a:off x="4910286" y="4649391"/>
            <a:ext cx="32374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규격 대응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8048625" y="4649391"/>
            <a:ext cx="3309640" cy="419100"/>
          </a:xfrm>
          <a:prstGeom prst="rect">
            <a:avLst/>
          </a:prstGeom>
          <a:solidFill>
            <a:srgbClr val="1F4A6F"/>
          </a:solidFill>
          <a:ln/>
        </p:spPr>
      </p:sp>
      <p:sp>
        <p:nvSpPr>
          <p:cNvPr id="27" name="Text 25"/>
          <p:cNvSpPr/>
          <p:nvPr/>
        </p:nvSpPr>
        <p:spPr>
          <a:xfrm>
            <a:off x="8220075" y="4649391"/>
            <a:ext cx="32374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입찰 · 제안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800100" y="7365206"/>
            <a:ext cx="121158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9" name="Text 27"/>
          <p:cNvSpPr/>
          <p:nvPr/>
        </p:nvSpPr>
        <p:spPr>
          <a:xfrm>
            <a:off x="800100" y="6271022"/>
            <a:ext cx="26193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발굴 · 레퍼런스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800100" y="6575822"/>
            <a:ext cx="26193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이수민 · 영업기획팀</a:t>
            </a:r>
            <a:endParaRPr lang="en-US" sz="1425" dirty="0"/>
          </a:p>
        </p:txBody>
      </p:sp>
      <p:sp>
        <p:nvSpPr>
          <p:cNvPr id="31" name="Shape 29"/>
          <p:cNvSpPr/>
          <p:nvPr/>
        </p:nvSpPr>
        <p:spPr>
          <a:xfrm>
            <a:off x="3181350" y="6323409"/>
            <a:ext cx="9734550" cy="419100"/>
          </a:xfrm>
          <a:prstGeom prst="rect">
            <a:avLst/>
          </a:prstGeom>
          <a:solidFill>
            <a:srgbClr val="EFEDE6"/>
          </a:solidFill>
          <a:ln w="9525">
            <a:solidFill>
              <a:srgbClr val="D8D3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2325" y="6332934"/>
            <a:ext cx="983608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16건 발굴 · 레퍼런스 세미나 2회</a:t>
            </a:r>
            <a:endParaRPr lang="en-US" sz="1575" dirty="0"/>
          </a:p>
        </p:txBody>
      </p:sp>
      <p:sp>
        <p:nvSpPr>
          <p:cNvPr id="33" name="Shape 31"/>
          <p:cNvSpPr/>
          <p:nvPr/>
        </p:nvSpPr>
        <p:spPr>
          <a:xfrm>
            <a:off x="800100" y="9039225"/>
            <a:ext cx="121158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4" name="Text 32"/>
          <p:cNvSpPr/>
          <p:nvPr/>
        </p:nvSpPr>
        <p:spPr>
          <a:xfrm>
            <a:off x="800100" y="7945041"/>
            <a:ext cx="26193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정책 개편</a:t>
            </a:r>
            <a:endParaRPr lang="en-US" sz="1725" dirty="0"/>
          </a:p>
        </p:txBody>
      </p:sp>
      <p:sp>
        <p:nvSpPr>
          <p:cNvPr id="35" name="Text 33"/>
          <p:cNvSpPr/>
          <p:nvPr/>
        </p:nvSpPr>
        <p:spPr>
          <a:xfrm>
            <a:off x="800100" y="8249841"/>
            <a:ext cx="26193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최영준 · 사업기획실</a:t>
            </a:r>
            <a:endParaRPr lang="en-US" sz="1425" dirty="0"/>
          </a:p>
        </p:txBody>
      </p:sp>
      <p:sp>
        <p:nvSpPr>
          <p:cNvPr id="36" name="Shape 34"/>
          <p:cNvSpPr/>
          <p:nvPr/>
        </p:nvSpPr>
        <p:spPr>
          <a:xfrm>
            <a:off x="6393656" y="7997428"/>
            <a:ext cx="3309640" cy="419100"/>
          </a:xfrm>
          <a:prstGeom prst="rect">
            <a:avLst/>
          </a:prstGeom>
          <a:solidFill>
            <a:srgbClr val="A05A3C"/>
          </a:solidFill>
          <a:ln/>
        </p:spPr>
      </p:sp>
      <p:sp>
        <p:nvSpPr>
          <p:cNvPr id="37" name="Text 35"/>
          <p:cNvSpPr/>
          <p:nvPr/>
        </p:nvSpPr>
        <p:spPr>
          <a:xfrm>
            <a:off x="6565106" y="7997428"/>
            <a:ext cx="32374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단가 체계 재설계</a:t>
            </a:r>
            <a:endParaRPr lang="en-US" sz="1575" dirty="0"/>
          </a:p>
        </p:txBody>
      </p:sp>
      <p:sp>
        <p:nvSpPr>
          <p:cNvPr id="38" name="Text 36"/>
          <p:cNvSpPr/>
          <p:nvPr/>
        </p:nvSpPr>
        <p:spPr>
          <a:xfrm>
            <a:off x="800100" y="9410700"/>
            <a:ext cx="26193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마일스톤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3181350" y="9372600"/>
            <a:ext cx="9734550" cy="1905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40" name="Shape 38"/>
          <p:cNvSpPr/>
          <p:nvPr/>
        </p:nvSpPr>
        <p:spPr>
          <a:xfrm>
            <a:off x="4738836" y="9305925"/>
            <a:ext cx="152400" cy="152400"/>
          </a:xfrm>
          <a:prstGeom prst="rect">
            <a:avLst/>
          </a:prstGeom>
          <a:solidFill>
            <a:srgbClr val="1F4A6F"/>
          </a:solidFill>
          <a:ln/>
        </p:spPr>
      </p:sp>
      <p:sp>
        <p:nvSpPr>
          <p:cNvPr id="41" name="Text 39"/>
          <p:cNvSpPr/>
          <p:nvPr/>
        </p:nvSpPr>
        <p:spPr>
          <a:xfrm>
            <a:off x="4389924" y="9525000"/>
            <a:ext cx="9484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8/15 재제안</a:t>
            </a:r>
            <a:endParaRPr lang="en-US" sz="1425" dirty="0"/>
          </a:p>
        </p:txBody>
      </p:sp>
      <p:sp>
        <p:nvSpPr>
          <p:cNvPr id="42" name="Shape 40"/>
          <p:cNvSpPr/>
          <p:nvPr/>
        </p:nvSpPr>
        <p:spPr>
          <a:xfrm>
            <a:off x="8048625" y="9305925"/>
            <a:ext cx="152400" cy="152400"/>
          </a:xfrm>
          <a:prstGeom prst="rect">
            <a:avLst/>
          </a:prstGeom>
          <a:solidFill>
            <a:srgbClr val="A05A3C"/>
          </a:solidFill>
          <a:ln/>
        </p:spPr>
      </p:sp>
      <p:sp>
        <p:nvSpPr>
          <p:cNvPr id="43" name="Text 41"/>
          <p:cNvSpPr/>
          <p:nvPr/>
        </p:nvSpPr>
        <p:spPr>
          <a:xfrm>
            <a:off x="7588091" y="9525000"/>
            <a:ext cx="122753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10/01 단가 확정</a:t>
            </a:r>
            <a:endParaRPr lang="en-US" sz="1425" dirty="0"/>
          </a:p>
        </p:txBody>
      </p:sp>
      <p:sp>
        <p:nvSpPr>
          <p:cNvPr id="44" name="Shape 42"/>
          <p:cNvSpPr/>
          <p:nvPr/>
        </p:nvSpPr>
        <p:spPr>
          <a:xfrm>
            <a:off x="11260931" y="9305925"/>
            <a:ext cx="152400" cy="152400"/>
          </a:xfrm>
          <a:prstGeom prst="rect">
            <a:avLst/>
          </a:prstGeom>
          <a:solidFill>
            <a:srgbClr val="1F4A6F"/>
          </a:solidFill>
          <a:ln/>
        </p:spPr>
      </p:sp>
      <p:sp>
        <p:nvSpPr>
          <p:cNvPr id="45" name="Text 43"/>
          <p:cNvSpPr/>
          <p:nvPr/>
        </p:nvSpPr>
        <p:spPr>
          <a:xfrm>
            <a:off x="10672614" y="9525000"/>
            <a:ext cx="125283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12/20 계약 마감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5760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하반기 계획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284643" y="571500"/>
            <a:ext cx="39943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상반기 영업 실적 및 하반기 운영 계획 · 08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· 이슈와 대응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00100" y="2000250"/>
            <a:ext cx="1238250" cy="4953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133600"/>
            <a:ext cx="11620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38350" y="2000250"/>
            <a:ext cx="3232993" cy="4953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9" name="Text 7"/>
          <p:cNvSpPr/>
          <p:nvPr/>
        </p:nvSpPr>
        <p:spPr>
          <a:xfrm>
            <a:off x="2190750" y="2133600"/>
            <a:ext cx="30251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71343" y="2000250"/>
            <a:ext cx="1428750" cy="4953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1" name="Text 9"/>
          <p:cNvSpPr/>
          <p:nvPr/>
        </p:nvSpPr>
        <p:spPr>
          <a:xfrm>
            <a:off x="5423743" y="2133600"/>
            <a:ext cx="12001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영향 금액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00093" y="2000250"/>
            <a:ext cx="4310807" cy="4953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2493" y="2133600"/>
            <a:ext cx="41353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010900" y="2000250"/>
            <a:ext cx="1905000" cy="4953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5" name="Text 13"/>
          <p:cNvSpPr/>
          <p:nvPr/>
        </p:nvSpPr>
        <p:spPr>
          <a:xfrm>
            <a:off x="11163300" y="2133600"/>
            <a:ext cx="16764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· 기한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0100" y="3219450"/>
            <a:ext cx="12382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17" name="Shape 15"/>
          <p:cNvSpPr/>
          <p:nvPr/>
        </p:nvSpPr>
        <p:spPr>
          <a:xfrm>
            <a:off x="952500" y="2686050"/>
            <a:ext cx="634157" cy="342900"/>
          </a:xfrm>
          <a:prstGeom prst="rect">
            <a:avLst/>
          </a:prstGeom>
          <a:solidFill>
            <a:srgbClr val="A05A3C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" y="2743200"/>
            <a:ext cx="4055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038350" y="3219450"/>
            <a:ext cx="3232993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0" name="Text 18"/>
          <p:cNvSpPr/>
          <p:nvPr/>
        </p:nvSpPr>
        <p:spPr>
          <a:xfrm>
            <a:off x="2190750" y="2686050"/>
            <a:ext cx="30251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3건 예산 집행 지연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5271343" y="3219450"/>
            <a:ext cx="14287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2" name="Text 20"/>
          <p:cNvSpPr/>
          <p:nvPr/>
        </p:nvSpPr>
        <p:spPr>
          <a:xfrm>
            <a:off x="5423743" y="2686050"/>
            <a:ext cx="12001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A0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-94억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6700093" y="3219450"/>
            <a:ext cx="431080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4" name="Text 22"/>
          <p:cNvSpPr/>
          <p:nvPr/>
        </p:nvSpPr>
        <p:spPr>
          <a:xfrm>
            <a:off x="6852493" y="2686050"/>
            <a:ext cx="413533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8월 중 예산 재확인, 미확정 건은 내년 이관 협의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010900" y="3219450"/>
            <a:ext cx="19050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6" name="Text 24"/>
          <p:cNvSpPr/>
          <p:nvPr/>
        </p:nvSpPr>
        <p:spPr>
          <a:xfrm>
            <a:off x="11163300" y="2686050"/>
            <a:ext cx="16764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김상현 · 08/15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800100" y="3952875"/>
            <a:ext cx="12382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8" name="Shape 26"/>
          <p:cNvSpPr/>
          <p:nvPr/>
        </p:nvSpPr>
        <p:spPr>
          <a:xfrm>
            <a:off x="952500" y="3419475"/>
            <a:ext cx="634157" cy="342900"/>
          </a:xfrm>
          <a:prstGeom prst="rect">
            <a:avLst/>
          </a:prstGeom>
          <a:solidFill>
            <a:srgbClr val="A05A3C"/>
          </a:solidFill>
          <a:ln/>
        </p:spPr>
      </p:sp>
      <p:sp>
        <p:nvSpPr>
          <p:cNvPr id="29" name="Text 27"/>
          <p:cNvSpPr/>
          <p:nvPr/>
        </p:nvSpPr>
        <p:spPr>
          <a:xfrm>
            <a:off x="1104900" y="3476625"/>
            <a:ext cx="4055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038350" y="3952875"/>
            <a:ext cx="3232993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1" name="Text 29"/>
          <p:cNvSpPr/>
          <p:nvPr/>
        </p:nvSpPr>
        <p:spPr>
          <a:xfrm>
            <a:off x="2190750" y="3419475"/>
            <a:ext cx="30251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→ 협상 전환율 8%p 하락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5271343" y="3952875"/>
            <a:ext cx="14287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3" name="Text 31"/>
          <p:cNvSpPr/>
          <p:nvPr/>
        </p:nvSpPr>
        <p:spPr>
          <a:xfrm>
            <a:off x="5423743" y="3419475"/>
            <a:ext cx="12001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A0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-56억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6700093" y="3952875"/>
            <a:ext cx="431080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5" name="Text 33"/>
          <p:cNvSpPr/>
          <p:nvPr/>
        </p:nvSpPr>
        <p:spPr>
          <a:xfrm>
            <a:off x="6852493" y="3419475"/>
            <a:ext cx="413533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협상 3주 초과 딜 임원 동행 리뷰 의무화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1010900" y="3952875"/>
            <a:ext cx="19050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7" name="Text 35"/>
          <p:cNvSpPr/>
          <p:nvPr/>
        </p:nvSpPr>
        <p:spPr>
          <a:xfrm>
            <a:off x="11163300" y="3419475"/>
            <a:ext cx="16764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영업임원 · 상시</a:t>
            </a:r>
            <a:endParaRPr lang="en-US" sz="1575" dirty="0"/>
          </a:p>
        </p:txBody>
      </p:sp>
      <p:sp>
        <p:nvSpPr>
          <p:cNvPr id="38" name="Shape 36"/>
          <p:cNvSpPr/>
          <p:nvPr/>
        </p:nvSpPr>
        <p:spPr>
          <a:xfrm>
            <a:off x="800100" y="4705350"/>
            <a:ext cx="12382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9" name="Shape 37"/>
          <p:cNvSpPr/>
          <p:nvPr/>
        </p:nvSpPr>
        <p:spPr>
          <a:xfrm>
            <a:off x="952500" y="4152900"/>
            <a:ext cx="653207" cy="361950"/>
          </a:xfrm>
          <a:prstGeom prst="rect">
            <a:avLst/>
          </a:prstGeom>
          <a:solidFill>
            <a:srgbClr val="EFEDE6"/>
          </a:solidFill>
          <a:ln w="9525">
            <a:solidFill>
              <a:srgbClr val="1F4A6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4425" y="4219575"/>
            <a:ext cx="4055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2038350" y="4705350"/>
            <a:ext cx="3232993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2" name="Text 40"/>
          <p:cNvSpPr/>
          <p:nvPr/>
        </p:nvSpPr>
        <p:spPr>
          <a:xfrm>
            <a:off x="2190750" y="4152900"/>
            <a:ext cx="302518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단발성 대형 건 의존 (42억)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5271343" y="4705350"/>
            <a:ext cx="14287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4" name="Text 42"/>
          <p:cNvSpPr/>
          <p:nvPr/>
        </p:nvSpPr>
        <p:spPr>
          <a:xfrm>
            <a:off x="5423743" y="4152900"/>
            <a:ext cx="1200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변동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6700093" y="4705350"/>
            <a:ext cx="431080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6" name="Text 44"/>
          <p:cNvSpPr/>
          <p:nvPr/>
        </p:nvSpPr>
        <p:spPr>
          <a:xfrm>
            <a:off x="6852493" y="4152900"/>
            <a:ext cx="413533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중형 딜(3~8억) 비중을 40%까지 확대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1010900" y="4705350"/>
            <a:ext cx="19050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8" name="Text 46"/>
          <p:cNvSpPr/>
          <p:nvPr/>
        </p:nvSpPr>
        <p:spPr>
          <a:xfrm>
            <a:off x="11163300" y="4152900"/>
            <a:ext cx="16764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이수민 · 4분기</a:t>
            </a:r>
            <a:endParaRPr lang="en-US" sz="1575" dirty="0"/>
          </a:p>
        </p:txBody>
      </p:sp>
      <p:sp>
        <p:nvSpPr>
          <p:cNvPr id="49" name="Shape 47"/>
          <p:cNvSpPr/>
          <p:nvPr/>
        </p:nvSpPr>
        <p:spPr>
          <a:xfrm>
            <a:off x="800100" y="5457825"/>
            <a:ext cx="12382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0" name="Shape 48"/>
          <p:cNvSpPr/>
          <p:nvPr/>
        </p:nvSpPr>
        <p:spPr>
          <a:xfrm>
            <a:off x="952500" y="4905375"/>
            <a:ext cx="653207" cy="361950"/>
          </a:xfrm>
          <a:prstGeom prst="rect">
            <a:avLst/>
          </a:prstGeom>
          <a:solidFill>
            <a:srgbClr val="EFEDE6"/>
          </a:solidFill>
          <a:ln w="9525">
            <a:solidFill>
              <a:srgbClr val="1F4A6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14425" y="4972050"/>
            <a:ext cx="4055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2038350" y="5457825"/>
            <a:ext cx="3232993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3" name="Text 51"/>
          <p:cNvSpPr/>
          <p:nvPr/>
        </p:nvSpPr>
        <p:spPr>
          <a:xfrm>
            <a:off x="2190750" y="4905375"/>
            <a:ext cx="302518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정책 미개편으로 단가 하락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5271343" y="5457825"/>
            <a:ext cx="14287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5" name="Text 53"/>
          <p:cNvSpPr/>
          <p:nvPr/>
        </p:nvSpPr>
        <p:spPr>
          <a:xfrm>
            <a:off x="5423743" y="4905375"/>
            <a:ext cx="1200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-18억</a:t>
            </a:r>
            <a:endParaRPr lang="en-US" sz="1650" dirty="0"/>
          </a:p>
        </p:txBody>
      </p:sp>
      <p:sp>
        <p:nvSpPr>
          <p:cNvPr id="56" name="Shape 54"/>
          <p:cNvSpPr/>
          <p:nvPr/>
        </p:nvSpPr>
        <p:spPr>
          <a:xfrm>
            <a:off x="6700093" y="5457825"/>
            <a:ext cx="431080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7" name="Text 55"/>
          <p:cNvSpPr/>
          <p:nvPr/>
        </p:nvSpPr>
        <p:spPr>
          <a:xfrm>
            <a:off x="6852493" y="4905375"/>
            <a:ext cx="413533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10월 1일까지 단가 체계 재설계 완료</a:t>
            </a:r>
            <a:endParaRPr lang="en-US" sz="1650" dirty="0"/>
          </a:p>
        </p:txBody>
      </p:sp>
      <p:sp>
        <p:nvSpPr>
          <p:cNvPr id="58" name="Shape 56"/>
          <p:cNvSpPr/>
          <p:nvPr/>
        </p:nvSpPr>
        <p:spPr>
          <a:xfrm>
            <a:off x="11010900" y="5457825"/>
            <a:ext cx="19050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9" name="Text 57"/>
          <p:cNvSpPr/>
          <p:nvPr/>
        </p:nvSpPr>
        <p:spPr>
          <a:xfrm>
            <a:off x="11163300" y="4905375"/>
            <a:ext cx="16764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최영준 · 10/01</a:t>
            </a:r>
            <a:endParaRPr lang="en-US" sz="1575" dirty="0"/>
          </a:p>
        </p:txBody>
      </p:sp>
      <p:sp>
        <p:nvSpPr>
          <p:cNvPr id="60" name="Shape 58"/>
          <p:cNvSpPr/>
          <p:nvPr/>
        </p:nvSpPr>
        <p:spPr>
          <a:xfrm>
            <a:off x="800100" y="6191250"/>
            <a:ext cx="12382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61" name="Shape 59"/>
          <p:cNvSpPr/>
          <p:nvPr/>
        </p:nvSpPr>
        <p:spPr>
          <a:xfrm>
            <a:off x="952500" y="5657850"/>
            <a:ext cx="634157" cy="3429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62" name="Text 60"/>
          <p:cNvSpPr/>
          <p:nvPr/>
        </p:nvSpPr>
        <p:spPr>
          <a:xfrm>
            <a:off x="1104900" y="5715000"/>
            <a:ext cx="4055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낮음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2038350" y="6191250"/>
            <a:ext cx="3232993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64" name="Text 62"/>
          <p:cNvSpPr/>
          <p:nvPr/>
        </p:nvSpPr>
        <p:spPr>
          <a:xfrm>
            <a:off x="2190750" y="5657850"/>
            <a:ext cx="30251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인력 충원 지연 (제안 2명)</a:t>
            </a:r>
            <a:endParaRPr lang="en-US" sz="1650" dirty="0"/>
          </a:p>
        </p:txBody>
      </p:sp>
      <p:sp>
        <p:nvSpPr>
          <p:cNvPr id="65" name="Shape 63"/>
          <p:cNvSpPr/>
          <p:nvPr/>
        </p:nvSpPr>
        <p:spPr>
          <a:xfrm>
            <a:off x="5271343" y="6191250"/>
            <a:ext cx="14287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66" name="Text 64"/>
          <p:cNvSpPr/>
          <p:nvPr/>
        </p:nvSpPr>
        <p:spPr>
          <a:xfrm>
            <a:off x="5423743" y="5657850"/>
            <a:ext cx="12001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간접</a:t>
            </a:r>
            <a:endParaRPr lang="en-US" sz="1650" dirty="0"/>
          </a:p>
        </p:txBody>
      </p:sp>
      <p:sp>
        <p:nvSpPr>
          <p:cNvPr id="67" name="Shape 65"/>
          <p:cNvSpPr/>
          <p:nvPr/>
        </p:nvSpPr>
        <p:spPr>
          <a:xfrm>
            <a:off x="6700093" y="6191250"/>
            <a:ext cx="431080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68" name="Text 66"/>
          <p:cNvSpPr/>
          <p:nvPr/>
        </p:nvSpPr>
        <p:spPr>
          <a:xfrm>
            <a:off x="6852493" y="5657850"/>
            <a:ext cx="413533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제안 인력 단기 계약으로 보완</a:t>
            </a:r>
            <a:endParaRPr lang="en-US" sz="1650" dirty="0"/>
          </a:p>
        </p:txBody>
      </p:sp>
      <p:sp>
        <p:nvSpPr>
          <p:cNvPr id="69" name="Shape 67"/>
          <p:cNvSpPr/>
          <p:nvPr/>
        </p:nvSpPr>
        <p:spPr>
          <a:xfrm>
            <a:off x="11010900" y="6191250"/>
            <a:ext cx="19050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70" name="Text 68"/>
          <p:cNvSpPr/>
          <p:nvPr/>
        </p:nvSpPr>
        <p:spPr>
          <a:xfrm>
            <a:off x="11163300" y="5657850"/>
            <a:ext cx="16764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인사팀 · 09/30</a:t>
            </a:r>
            <a:endParaRPr lang="en-US" sz="1575" dirty="0"/>
          </a:p>
        </p:txBody>
      </p:sp>
      <p:sp>
        <p:nvSpPr>
          <p:cNvPr id="71" name="Shape 69"/>
          <p:cNvSpPr/>
          <p:nvPr/>
        </p:nvSpPr>
        <p:spPr>
          <a:xfrm>
            <a:off x="800100" y="9182100"/>
            <a:ext cx="12115800" cy="6096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72" name="Shape 70"/>
          <p:cNvSpPr/>
          <p:nvPr/>
        </p:nvSpPr>
        <p:spPr>
          <a:xfrm>
            <a:off x="800100" y="9182100"/>
            <a:ext cx="47625" cy="609600"/>
          </a:xfrm>
          <a:prstGeom prst="rect">
            <a:avLst/>
          </a:prstGeom>
          <a:solidFill>
            <a:srgbClr val="A05A3C"/>
          </a:solidFill>
          <a:ln/>
        </p:spPr>
      </p:sp>
      <p:sp>
        <p:nvSpPr>
          <p:cNvPr id="73" name="Text 71"/>
          <p:cNvSpPr/>
          <p:nvPr/>
        </p:nvSpPr>
        <p:spPr>
          <a:xfrm>
            <a:off x="1076325" y="9353550"/>
            <a:ext cx="119744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 2건이 하반기 목표의 68%를 좌우합니다. 8월 15일 예산 재확인 결과를 기준으로 목표를 재확정합니다.</a:t>
            </a:r>
            <a:endParaRPr lang="en-US" sz="17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36534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승인 요청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283303" y="571500"/>
            <a:ext cx="3995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상반기 영업 실적 및 하반기 운영 계획 · 09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요청 3건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00100" y="2000250"/>
            <a:ext cx="12115800" cy="105727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7" name="Shape 5"/>
          <p:cNvSpPr/>
          <p:nvPr/>
        </p:nvSpPr>
        <p:spPr>
          <a:xfrm>
            <a:off x="800100" y="2000250"/>
            <a:ext cx="47625" cy="1057275"/>
          </a:xfrm>
          <a:prstGeom prst="rect">
            <a:avLst/>
          </a:prstGeom>
          <a:solidFill>
            <a:srgbClr val="1F4A6F"/>
          </a:solidFill>
          <a:ln/>
        </p:spPr>
      </p:sp>
      <p:sp>
        <p:nvSpPr>
          <p:cNvPr id="8" name="Text 6"/>
          <p:cNvSpPr/>
          <p:nvPr/>
        </p:nvSpPr>
        <p:spPr>
          <a:xfrm>
            <a:off x="1114425" y="2381250"/>
            <a:ext cx="36358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668512" y="2233613"/>
            <a:ext cx="1096945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하반기 금융 부문 목표 94억 → 70억 조정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668512" y="2586038"/>
            <a:ext cx="1096945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이월 3건 중 2건 4분기 확정, 1건 내년 이관 협의 기준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1831241" y="2228850"/>
            <a:ext cx="81795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기한 </a:t>
            </a:r>
            <a:pPr algn="r" indent="0" marL="0">
              <a:lnSpc>
                <a:spcPct val="126000"/>
              </a:lnSpc>
              <a:buNone/>
            </a:pPr>
            <a:r>
              <a:rPr lang="en-US" sz="1575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08/15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800100" y="3209925"/>
            <a:ext cx="12115800" cy="105727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3" name="Shape 11"/>
          <p:cNvSpPr/>
          <p:nvPr/>
        </p:nvSpPr>
        <p:spPr>
          <a:xfrm>
            <a:off x="800100" y="3209925"/>
            <a:ext cx="47625" cy="1057275"/>
          </a:xfrm>
          <a:prstGeom prst="rect">
            <a:avLst/>
          </a:prstGeom>
          <a:solidFill>
            <a:srgbClr val="1F4A6F"/>
          </a:solidFill>
          <a:ln/>
        </p:spPr>
      </p:sp>
      <p:sp>
        <p:nvSpPr>
          <p:cNvPr id="14" name="Text 12"/>
          <p:cNvSpPr/>
          <p:nvPr/>
        </p:nvSpPr>
        <p:spPr>
          <a:xfrm>
            <a:off x="1114425" y="3590925"/>
            <a:ext cx="3981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703040" y="3443288"/>
            <a:ext cx="109314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인력 2명 단기 충원 (외부 계약)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703040" y="3795713"/>
            <a:ext cx="1093147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4분기 공공 입찰 6건 동시 대응에 필요, 예상 비용 1.4억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1831241" y="3438525"/>
            <a:ext cx="81795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기한 </a:t>
            </a:r>
            <a:pPr algn="r" indent="0" marL="0">
              <a:lnSpc>
                <a:spcPct val="126000"/>
              </a:lnSpc>
              <a:buNone/>
            </a:pPr>
            <a:r>
              <a:rPr lang="en-US" sz="1575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09/30</a:t>
            </a:r>
            <a:endParaRPr lang="en-US" sz="1575" dirty="0"/>
          </a:p>
        </p:txBody>
      </p:sp>
      <p:sp>
        <p:nvSpPr>
          <p:cNvPr id="18" name="Shape 16"/>
          <p:cNvSpPr/>
          <p:nvPr/>
        </p:nvSpPr>
        <p:spPr>
          <a:xfrm>
            <a:off x="800100" y="4419600"/>
            <a:ext cx="12115800" cy="105727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" y="4419600"/>
            <a:ext cx="47625" cy="1057275"/>
          </a:xfrm>
          <a:prstGeom prst="rect">
            <a:avLst/>
          </a:prstGeom>
          <a:solidFill>
            <a:srgbClr val="1F4A6F"/>
          </a:solidFill>
          <a:ln/>
        </p:spPr>
      </p:sp>
      <p:sp>
        <p:nvSpPr>
          <p:cNvPr id="20" name="Text 18"/>
          <p:cNvSpPr/>
          <p:nvPr/>
        </p:nvSpPr>
        <p:spPr>
          <a:xfrm>
            <a:off x="1114425" y="4800600"/>
            <a:ext cx="4051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710035" y="4652963"/>
            <a:ext cx="1092377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정책 개편안 10월 1일 시행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710035" y="5005388"/>
            <a:ext cx="1092377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단가 하락 방어 효과 연 18억, 사업기획실 공동 검토 완료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11831241" y="4648200"/>
            <a:ext cx="81795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기한 </a:t>
            </a:r>
            <a:pPr algn="r" indent="0" marL="0">
              <a:lnSpc>
                <a:spcPct val="126000"/>
              </a:lnSpc>
              <a:buNone/>
            </a:pPr>
            <a:r>
              <a:rPr lang="en-US" sz="1575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10/01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800100" y="5800725"/>
            <a:ext cx="121158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" y="6057900"/>
            <a:ext cx="61974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00100" y="6438900"/>
            <a:ext cx="67076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08/15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547068" y="6438900"/>
            <a:ext cx="4449336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3건 예산 재확인 결과 공유, 하반기 목표 확정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800100" y="6916043"/>
            <a:ext cx="712887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09/05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589187" y="6916043"/>
            <a:ext cx="4232419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 중간 점검 보고 (파이프라인 전환율 포함)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800100" y="7393186"/>
            <a:ext cx="64293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10/01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519238" y="7393186"/>
            <a:ext cx="3537139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정책 시행 및 4분기 입찰 대응 착수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6853238" y="6057900"/>
            <a:ext cx="9525" cy="373380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33" name="Text 31"/>
          <p:cNvSpPr/>
          <p:nvPr/>
        </p:nvSpPr>
        <p:spPr>
          <a:xfrm>
            <a:off x="7281863" y="6057900"/>
            <a:ext cx="61974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281863" y="6438900"/>
            <a:ext cx="5803059" cy="750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846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영업기획팀 이수민 sumin.lee@example.com · 02-000-0000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7281863" y="7303591"/>
            <a:ext cx="5803059" cy="6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174"/>
              </a:lnSpc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보고서는 9월 1일 파이프라인 스냅숏과 6월 30일 마감 실적을 기준으로 작성되었습니다.</a:t>
            </a:r>
            <a:endParaRPr lang="en-US" sz="14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33400"/>
            <a:ext cx="10962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TOOLKIT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949583" y="533400"/>
            <a:ext cx="216294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장표 추가용 도형 세트 · 10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8953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152525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칩 · 번호 배지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800100" y="1495425"/>
            <a:ext cx="726877" cy="428625"/>
          </a:xfrm>
          <a:prstGeom prst="rect">
            <a:avLst/>
          </a:prstGeom>
          <a:solidFill>
            <a:srgbClr val="1F4A6F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590675"/>
            <a:ext cx="42207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1641277" y="1485900"/>
            <a:ext cx="918716" cy="447675"/>
          </a:xfrm>
          <a:prstGeom prst="rect">
            <a:avLst/>
          </a:prstGeom>
          <a:solidFill>
            <a:srgbClr val="EFEDE6"/>
          </a:solidFill>
          <a:ln w="9525">
            <a:solidFill>
              <a:srgbClr val="1F4A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1302" y="1590675"/>
            <a:ext cx="59486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협의중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2674293" y="1495425"/>
            <a:ext cx="726877" cy="4286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1" name="Text 9"/>
          <p:cNvSpPr/>
          <p:nvPr/>
        </p:nvSpPr>
        <p:spPr>
          <a:xfrm>
            <a:off x="2864793" y="1590675"/>
            <a:ext cx="42207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보류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3515469" y="1495425"/>
            <a:ext cx="899666" cy="428625"/>
          </a:xfrm>
          <a:prstGeom prst="rect">
            <a:avLst/>
          </a:prstGeom>
          <a:solidFill>
            <a:srgbClr val="A05A3C"/>
          </a:solidFill>
          <a:ln/>
        </p:spPr>
      </p:sp>
      <p:sp>
        <p:nvSpPr>
          <p:cNvPr id="13" name="Text 11"/>
          <p:cNvSpPr/>
          <p:nvPr/>
        </p:nvSpPr>
        <p:spPr>
          <a:xfrm>
            <a:off x="3705969" y="1590675"/>
            <a:ext cx="59486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4529435" y="1519238"/>
            <a:ext cx="381000" cy="381000"/>
          </a:xfrm>
          <a:prstGeom prst="rect">
            <a:avLst/>
          </a:prstGeom>
          <a:solidFill>
            <a:srgbClr val="1F4A6F"/>
          </a:solidFill>
          <a:ln/>
        </p:spPr>
      </p:sp>
      <p:sp>
        <p:nvSpPr>
          <p:cNvPr id="15" name="Text 13"/>
          <p:cNvSpPr/>
          <p:nvPr/>
        </p:nvSpPr>
        <p:spPr>
          <a:xfrm>
            <a:off x="4491335" y="1519238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5024735" y="1519238"/>
            <a:ext cx="381000" cy="381000"/>
          </a:xfrm>
          <a:prstGeom prst="rect">
            <a:avLst/>
          </a:prstGeom>
          <a:ln w="9525">
            <a:solidFill>
              <a:srgbClr val="D8D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96160" y="1528763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7124700" y="1152525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프로세스 · 4단계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7124700" y="1495425"/>
            <a:ext cx="1242566" cy="495300"/>
          </a:xfrm>
          <a:prstGeom prst="rect">
            <a:avLst/>
          </a:prstGeom>
          <a:solidFill>
            <a:srgbClr val="1F4A6F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1628775"/>
            <a:ext cx="131876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발굴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62516" y="1619250"/>
            <a:ext cx="1465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8628162" y="1495425"/>
            <a:ext cx="1242715" cy="495300"/>
          </a:xfrm>
          <a:prstGeom prst="rect">
            <a:avLst/>
          </a:prstGeom>
          <a:solidFill>
            <a:srgbClr val="4A7BA0"/>
          </a:solidFill>
          <a:ln/>
        </p:spPr>
      </p:sp>
      <p:sp>
        <p:nvSpPr>
          <p:cNvPr id="23" name="Text 21"/>
          <p:cNvSpPr/>
          <p:nvPr/>
        </p:nvSpPr>
        <p:spPr>
          <a:xfrm>
            <a:off x="8590062" y="1628775"/>
            <a:ext cx="13189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966127" y="1619250"/>
            <a:ext cx="1465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0131772" y="1485900"/>
            <a:ext cx="1261616" cy="514350"/>
          </a:xfrm>
          <a:prstGeom prst="rect">
            <a:avLst/>
          </a:prstGeom>
          <a:solidFill>
            <a:srgbClr val="EFEDE6"/>
          </a:solidFill>
          <a:ln w="9525">
            <a:solidFill>
              <a:srgbClr val="D8D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03197" y="1628775"/>
            <a:ext cx="131876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협상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488638" y="1619250"/>
            <a:ext cx="1465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1654284" y="1485900"/>
            <a:ext cx="1261616" cy="514350"/>
          </a:xfrm>
          <a:prstGeom prst="rect">
            <a:avLst/>
          </a:prstGeom>
          <a:solidFill>
            <a:srgbClr val="EFEDE6"/>
          </a:solidFill>
          <a:ln w="9525">
            <a:solidFill>
              <a:srgbClr val="D8D3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625709" y="1628775"/>
            <a:ext cx="131876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00100" y="2847975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콜아웃 · 판단 요청 바</a:t>
            </a:r>
            <a:endParaRPr lang="en-US" sz="1425" dirty="0"/>
          </a:p>
        </p:txBody>
      </p:sp>
      <p:sp>
        <p:nvSpPr>
          <p:cNvPr id="31" name="Shape 29"/>
          <p:cNvSpPr/>
          <p:nvPr/>
        </p:nvSpPr>
        <p:spPr>
          <a:xfrm>
            <a:off x="800100" y="3181350"/>
            <a:ext cx="5791200" cy="6096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2" name="Shape 30"/>
          <p:cNvSpPr/>
          <p:nvPr/>
        </p:nvSpPr>
        <p:spPr>
          <a:xfrm>
            <a:off x="800100" y="3181350"/>
            <a:ext cx="47625" cy="609600"/>
          </a:xfrm>
          <a:prstGeom prst="rect">
            <a:avLst/>
          </a:prstGeom>
          <a:solidFill>
            <a:srgbClr val="1F4A6F"/>
          </a:solidFill>
          <a:ln/>
        </p:spPr>
      </p:sp>
      <p:sp>
        <p:nvSpPr>
          <p:cNvPr id="33" name="Text 31"/>
          <p:cNvSpPr/>
          <p:nvPr/>
        </p:nvSpPr>
        <p:spPr>
          <a:xfrm>
            <a:off x="1057275" y="3352800"/>
            <a:ext cx="54982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요청 · 한 줄로 쓰는 결론</a:t>
            </a:r>
            <a:endParaRPr lang="en-US" sz="1725" dirty="0"/>
          </a:p>
        </p:txBody>
      </p:sp>
      <p:sp>
        <p:nvSpPr>
          <p:cNvPr id="34" name="Shape 32"/>
          <p:cNvSpPr/>
          <p:nvPr/>
        </p:nvSpPr>
        <p:spPr>
          <a:xfrm>
            <a:off x="800100" y="3905250"/>
            <a:ext cx="5791200" cy="6096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5" name="Shape 33"/>
          <p:cNvSpPr/>
          <p:nvPr/>
        </p:nvSpPr>
        <p:spPr>
          <a:xfrm>
            <a:off x="800100" y="3905250"/>
            <a:ext cx="47625" cy="609600"/>
          </a:xfrm>
          <a:prstGeom prst="rect">
            <a:avLst/>
          </a:prstGeom>
          <a:solidFill>
            <a:srgbClr val="A05A3C"/>
          </a:solidFill>
          <a:ln/>
        </p:spPr>
      </p:sp>
      <p:sp>
        <p:nvSpPr>
          <p:cNvPr id="36" name="Text 34"/>
          <p:cNvSpPr/>
          <p:nvPr/>
        </p:nvSpPr>
        <p:spPr>
          <a:xfrm>
            <a:off x="1057275" y="4076700"/>
            <a:ext cx="54982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· 영향과 기한을 함께</a:t>
            </a:r>
            <a:endParaRPr lang="en-US" sz="1725" dirty="0"/>
          </a:p>
        </p:txBody>
      </p:sp>
      <p:sp>
        <p:nvSpPr>
          <p:cNvPr id="37" name="Text 35"/>
          <p:cNvSpPr/>
          <p:nvPr/>
        </p:nvSpPr>
        <p:spPr>
          <a:xfrm>
            <a:off x="7124700" y="2847975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카드 · 3분할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7124700" y="3181350"/>
            <a:ext cx="5791200" cy="114300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39" name="Shape 37"/>
          <p:cNvSpPr/>
          <p:nvPr/>
        </p:nvSpPr>
        <p:spPr>
          <a:xfrm>
            <a:off x="7124700" y="3181350"/>
            <a:ext cx="1924050" cy="11430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40" name="Text 38"/>
          <p:cNvSpPr/>
          <p:nvPr/>
        </p:nvSpPr>
        <p:spPr>
          <a:xfrm>
            <a:off x="7296150" y="3314700"/>
            <a:ext cx="17392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7296150" y="3571875"/>
            <a:ext cx="173926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337억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7296150" y="3971925"/>
            <a:ext cx="17392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+4.1%</a:t>
            </a:r>
            <a:endParaRPr lang="en-US" sz="1425" dirty="0"/>
          </a:p>
        </p:txBody>
      </p:sp>
      <p:sp>
        <p:nvSpPr>
          <p:cNvPr id="43" name="Shape 41"/>
          <p:cNvSpPr/>
          <p:nvPr/>
        </p:nvSpPr>
        <p:spPr>
          <a:xfrm>
            <a:off x="9058275" y="3181350"/>
            <a:ext cx="1924050" cy="11430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44" name="Text 42"/>
          <p:cNvSpPr/>
          <p:nvPr/>
        </p:nvSpPr>
        <p:spPr>
          <a:xfrm>
            <a:off x="9229725" y="3314700"/>
            <a:ext cx="17392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</a:t>
            </a:r>
            <a:endParaRPr lang="en-US" sz="1425" dirty="0"/>
          </a:p>
        </p:txBody>
      </p:sp>
      <p:sp>
        <p:nvSpPr>
          <p:cNvPr id="45" name="Text 43"/>
          <p:cNvSpPr/>
          <p:nvPr/>
        </p:nvSpPr>
        <p:spPr>
          <a:xfrm>
            <a:off x="9229725" y="3571875"/>
            <a:ext cx="173926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412억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9229725" y="3971925"/>
            <a:ext cx="17392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+12.6%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10991850" y="3181350"/>
            <a:ext cx="1924050" cy="11430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48" name="Text 46"/>
          <p:cNvSpPr/>
          <p:nvPr/>
        </p:nvSpPr>
        <p:spPr>
          <a:xfrm>
            <a:off x="11163300" y="3314700"/>
            <a:ext cx="17392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</a:t>
            </a:r>
            <a:endParaRPr lang="en-US" sz="1425" dirty="0"/>
          </a:p>
        </p:txBody>
      </p:sp>
      <p:sp>
        <p:nvSpPr>
          <p:cNvPr id="49" name="Text 47"/>
          <p:cNvSpPr/>
          <p:nvPr/>
        </p:nvSpPr>
        <p:spPr>
          <a:xfrm>
            <a:off x="11163300" y="3571875"/>
            <a:ext cx="173926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1,140억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11163300" y="3971925"/>
            <a:ext cx="17392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A0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-2.0%</a:t>
            </a:r>
            <a:endParaRPr lang="en-US" sz="1425" dirty="0"/>
          </a:p>
        </p:txBody>
      </p:sp>
      <p:sp>
        <p:nvSpPr>
          <p:cNvPr id="51" name="Text 49"/>
          <p:cNvSpPr/>
          <p:nvPr/>
        </p:nvSpPr>
        <p:spPr>
          <a:xfrm>
            <a:off x="800100" y="5362575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진행률 · 퍼널 바</a:t>
            </a:r>
            <a:endParaRPr lang="en-US" sz="1425" dirty="0"/>
          </a:p>
        </p:txBody>
      </p:sp>
      <p:sp>
        <p:nvSpPr>
          <p:cNvPr id="52" name="Text 50"/>
          <p:cNvSpPr/>
          <p:nvPr/>
        </p:nvSpPr>
        <p:spPr>
          <a:xfrm>
            <a:off x="800100" y="5695950"/>
            <a:ext cx="838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</a:t>
            </a:r>
            <a:endParaRPr lang="en-US" sz="1575" dirty="0"/>
          </a:p>
        </p:txBody>
      </p:sp>
      <p:sp>
        <p:nvSpPr>
          <p:cNvPr id="53" name="Shape 51"/>
          <p:cNvSpPr/>
          <p:nvPr/>
        </p:nvSpPr>
        <p:spPr>
          <a:xfrm>
            <a:off x="1733550" y="5719763"/>
            <a:ext cx="4019550" cy="19050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4" name="Shape 52"/>
          <p:cNvSpPr/>
          <p:nvPr/>
        </p:nvSpPr>
        <p:spPr>
          <a:xfrm>
            <a:off x="1733550" y="5719763"/>
            <a:ext cx="3135213" cy="190500"/>
          </a:xfrm>
          <a:prstGeom prst="rect">
            <a:avLst/>
          </a:prstGeom>
          <a:solidFill>
            <a:srgbClr val="1F4A6F"/>
          </a:solidFill>
          <a:ln/>
        </p:spPr>
      </p:sp>
      <p:sp>
        <p:nvSpPr>
          <p:cNvPr id="55" name="Text 53"/>
          <p:cNvSpPr/>
          <p:nvPr/>
        </p:nvSpPr>
        <p:spPr>
          <a:xfrm>
            <a:off x="5848350" y="5695950"/>
            <a:ext cx="7429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118%</a:t>
            </a:r>
            <a:endParaRPr lang="en-US" sz="1575" dirty="0"/>
          </a:p>
        </p:txBody>
      </p:sp>
      <p:sp>
        <p:nvSpPr>
          <p:cNvPr id="56" name="Text 54"/>
          <p:cNvSpPr/>
          <p:nvPr/>
        </p:nvSpPr>
        <p:spPr>
          <a:xfrm>
            <a:off x="800100" y="6048375"/>
            <a:ext cx="838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</a:t>
            </a:r>
            <a:endParaRPr lang="en-US" sz="1575" dirty="0"/>
          </a:p>
        </p:txBody>
      </p:sp>
      <p:sp>
        <p:nvSpPr>
          <p:cNvPr id="57" name="Shape 55"/>
          <p:cNvSpPr/>
          <p:nvPr/>
        </p:nvSpPr>
        <p:spPr>
          <a:xfrm>
            <a:off x="1733550" y="6072188"/>
            <a:ext cx="4019550" cy="19050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8" name="Shape 56"/>
          <p:cNvSpPr/>
          <p:nvPr/>
        </p:nvSpPr>
        <p:spPr>
          <a:xfrm>
            <a:off x="1733550" y="6072188"/>
            <a:ext cx="2331244" cy="190500"/>
          </a:xfrm>
          <a:prstGeom prst="rect">
            <a:avLst/>
          </a:prstGeom>
          <a:solidFill>
            <a:srgbClr val="A05A3C"/>
          </a:solidFill>
          <a:ln/>
        </p:spPr>
      </p:sp>
      <p:sp>
        <p:nvSpPr>
          <p:cNvPr id="59" name="Text 57"/>
          <p:cNvSpPr/>
          <p:nvPr/>
        </p:nvSpPr>
        <p:spPr>
          <a:xfrm>
            <a:off x="5848350" y="6048375"/>
            <a:ext cx="7429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A0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87%</a:t>
            </a:r>
            <a:endParaRPr lang="en-US" sz="1575" dirty="0"/>
          </a:p>
        </p:txBody>
      </p:sp>
      <p:sp>
        <p:nvSpPr>
          <p:cNvPr id="60" name="Text 58"/>
          <p:cNvSpPr/>
          <p:nvPr/>
        </p:nvSpPr>
        <p:spPr>
          <a:xfrm>
            <a:off x="800100" y="6400800"/>
            <a:ext cx="838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제조</a:t>
            </a:r>
            <a:endParaRPr lang="en-US" sz="1575" dirty="0"/>
          </a:p>
        </p:txBody>
      </p:sp>
      <p:sp>
        <p:nvSpPr>
          <p:cNvPr id="61" name="Shape 59"/>
          <p:cNvSpPr/>
          <p:nvPr/>
        </p:nvSpPr>
        <p:spPr>
          <a:xfrm>
            <a:off x="1733550" y="6424613"/>
            <a:ext cx="4019550" cy="19050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62" name="Shape 60"/>
          <p:cNvSpPr/>
          <p:nvPr/>
        </p:nvSpPr>
        <p:spPr>
          <a:xfrm>
            <a:off x="1733550" y="6424613"/>
            <a:ext cx="2733229" cy="190500"/>
          </a:xfrm>
          <a:prstGeom prst="rect">
            <a:avLst/>
          </a:prstGeom>
          <a:solidFill>
            <a:srgbClr val="4A7BA0"/>
          </a:solidFill>
          <a:ln/>
        </p:spPr>
      </p:sp>
      <p:sp>
        <p:nvSpPr>
          <p:cNvPr id="63" name="Text 61"/>
          <p:cNvSpPr/>
          <p:nvPr/>
        </p:nvSpPr>
        <p:spPr>
          <a:xfrm>
            <a:off x="5848350" y="6400800"/>
            <a:ext cx="7429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103%</a:t>
            </a:r>
            <a:endParaRPr lang="en-US" sz="1575" dirty="0"/>
          </a:p>
        </p:txBody>
      </p:sp>
      <p:sp>
        <p:nvSpPr>
          <p:cNvPr id="64" name="Text 62"/>
          <p:cNvSpPr/>
          <p:nvPr/>
        </p:nvSpPr>
        <p:spPr>
          <a:xfrm>
            <a:off x="7124700" y="5362575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타임라인 · 간트 바</a:t>
            </a:r>
            <a:endParaRPr lang="en-US" sz="1425" dirty="0"/>
          </a:p>
        </p:txBody>
      </p:sp>
      <p:sp>
        <p:nvSpPr>
          <p:cNvPr id="65" name="Shape 63"/>
          <p:cNvSpPr/>
          <p:nvPr/>
        </p:nvSpPr>
        <p:spPr>
          <a:xfrm>
            <a:off x="7124700" y="5791200"/>
            <a:ext cx="5791200" cy="1905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66" name="Shape 64"/>
          <p:cNvSpPr/>
          <p:nvPr/>
        </p:nvSpPr>
        <p:spPr>
          <a:xfrm>
            <a:off x="7124700" y="5734050"/>
            <a:ext cx="133350" cy="133350"/>
          </a:xfrm>
          <a:prstGeom prst="rect">
            <a:avLst/>
          </a:prstGeom>
          <a:solidFill>
            <a:srgbClr val="1F4A6F"/>
          </a:solidFill>
          <a:ln/>
        </p:spPr>
      </p:sp>
      <p:sp>
        <p:nvSpPr>
          <p:cNvPr id="67" name="Shape 65"/>
          <p:cNvSpPr/>
          <p:nvPr/>
        </p:nvSpPr>
        <p:spPr>
          <a:xfrm>
            <a:off x="9010650" y="5734050"/>
            <a:ext cx="133350" cy="133350"/>
          </a:xfrm>
          <a:prstGeom prst="rect">
            <a:avLst/>
          </a:prstGeom>
          <a:solidFill>
            <a:srgbClr val="1F4A6F"/>
          </a:solidFill>
          <a:ln/>
        </p:spPr>
      </p:sp>
      <p:sp>
        <p:nvSpPr>
          <p:cNvPr id="68" name="Shape 66"/>
          <p:cNvSpPr/>
          <p:nvPr/>
        </p:nvSpPr>
        <p:spPr>
          <a:xfrm>
            <a:off x="10896600" y="5734050"/>
            <a:ext cx="133350" cy="133350"/>
          </a:xfrm>
          <a:prstGeom prst="rect">
            <a:avLst/>
          </a:prstGeom>
          <a:solidFill>
            <a:srgbClr val="A05A3C"/>
          </a:solidFill>
          <a:ln/>
        </p:spPr>
      </p:sp>
      <p:sp>
        <p:nvSpPr>
          <p:cNvPr id="69" name="Shape 67"/>
          <p:cNvSpPr/>
          <p:nvPr/>
        </p:nvSpPr>
        <p:spPr>
          <a:xfrm>
            <a:off x="12782550" y="5734050"/>
            <a:ext cx="133350" cy="13335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70" name="Text 68"/>
          <p:cNvSpPr/>
          <p:nvPr/>
        </p:nvSpPr>
        <p:spPr>
          <a:xfrm>
            <a:off x="7124700" y="5981700"/>
            <a:ext cx="3324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7월</a:t>
            </a:r>
            <a:endParaRPr lang="en-US" sz="1425" dirty="0"/>
          </a:p>
        </p:txBody>
      </p:sp>
      <p:sp>
        <p:nvSpPr>
          <p:cNvPr id="71" name="Text 69"/>
          <p:cNvSpPr/>
          <p:nvPr/>
        </p:nvSpPr>
        <p:spPr>
          <a:xfrm>
            <a:off x="8933557" y="5981700"/>
            <a:ext cx="34245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8월</a:t>
            </a:r>
            <a:endParaRPr lang="en-US" sz="1425" dirty="0"/>
          </a:p>
        </p:txBody>
      </p:sp>
      <p:sp>
        <p:nvSpPr>
          <p:cNvPr id="72" name="Text 70"/>
          <p:cNvSpPr/>
          <p:nvPr/>
        </p:nvSpPr>
        <p:spPr>
          <a:xfrm>
            <a:off x="10752237" y="5981700"/>
            <a:ext cx="34364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9월</a:t>
            </a:r>
            <a:endParaRPr lang="en-US" sz="1425" dirty="0"/>
          </a:p>
        </p:txBody>
      </p:sp>
      <p:sp>
        <p:nvSpPr>
          <p:cNvPr id="73" name="Text 71"/>
          <p:cNvSpPr/>
          <p:nvPr/>
        </p:nvSpPr>
        <p:spPr>
          <a:xfrm>
            <a:off x="12572256" y="5981700"/>
            <a:ext cx="41984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10월</a:t>
            </a:r>
            <a:endParaRPr lang="en-US" sz="1425" dirty="0"/>
          </a:p>
        </p:txBody>
      </p:sp>
      <p:sp>
        <p:nvSpPr>
          <p:cNvPr id="74" name="Shape 72"/>
          <p:cNvSpPr/>
          <p:nvPr/>
        </p:nvSpPr>
        <p:spPr>
          <a:xfrm>
            <a:off x="7124700" y="6372225"/>
            <a:ext cx="2548086" cy="323850"/>
          </a:xfrm>
          <a:prstGeom prst="rect">
            <a:avLst/>
          </a:prstGeom>
          <a:solidFill>
            <a:srgbClr val="1F4A6F"/>
          </a:solidFill>
          <a:ln/>
        </p:spPr>
      </p:sp>
      <p:sp>
        <p:nvSpPr>
          <p:cNvPr id="75" name="Text 73"/>
          <p:cNvSpPr/>
          <p:nvPr/>
        </p:nvSpPr>
        <p:spPr>
          <a:xfrm>
            <a:off x="7258050" y="6372225"/>
            <a:ext cx="24911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구간</a:t>
            </a:r>
            <a:endParaRPr lang="en-US" sz="1425" dirty="0"/>
          </a:p>
        </p:txBody>
      </p:sp>
      <p:sp>
        <p:nvSpPr>
          <p:cNvPr id="76" name="Shape 74"/>
          <p:cNvSpPr/>
          <p:nvPr/>
        </p:nvSpPr>
        <p:spPr>
          <a:xfrm>
            <a:off x="9672786" y="6372225"/>
            <a:ext cx="1737271" cy="323850"/>
          </a:xfrm>
          <a:prstGeom prst="rect">
            <a:avLst/>
          </a:prstGeom>
          <a:solidFill>
            <a:srgbClr val="CDD6DE"/>
          </a:solidFill>
          <a:ln/>
        </p:spPr>
      </p:sp>
      <p:sp>
        <p:nvSpPr>
          <p:cNvPr id="77" name="Text 75"/>
          <p:cNvSpPr/>
          <p:nvPr/>
        </p:nvSpPr>
        <p:spPr>
          <a:xfrm>
            <a:off x="9806136" y="6372225"/>
            <a:ext cx="168012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</a:t>
            </a:r>
            <a:endParaRPr lang="en-US" sz="1425" dirty="0"/>
          </a:p>
        </p:txBody>
      </p:sp>
      <p:sp>
        <p:nvSpPr>
          <p:cNvPr id="78" name="Text 76"/>
          <p:cNvSpPr/>
          <p:nvPr/>
        </p:nvSpPr>
        <p:spPr>
          <a:xfrm>
            <a:off x="800100" y="7543800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 머리글 · 합계 행</a:t>
            </a:r>
            <a:endParaRPr lang="en-US" sz="1425" dirty="0"/>
          </a:p>
        </p:txBody>
      </p:sp>
      <p:sp>
        <p:nvSpPr>
          <p:cNvPr id="79" name="Shape 77"/>
          <p:cNvSpPr/>
          <p:nvPr/>
        </p:nvSpPr>
        <p:spPr>
          <a:xfrm>
            <a:off x="800100" y="7877175"/>
            <a:ext cx="4201120" cy="4286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80" name="Text 78"/>
          <p:cNvSpPr/>
          <p:nvPr/>
        </p:nvSpPr>
        <p:spPr>
          <a:xfrm>
            <a:off x="933450" y="7981950"/>
            <a:ext cx="419380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</a:t>
            </a:r>
            <a:endParaRPr lang="en-US" sz="1425" dirty="0"/>
          </a:p>
        </p:txBody>
      </p:sp>
      <p:sp>
        <p:nvSpPr>
          <p:cNvPr id="81" name="Shape 79"/>
          <p:cNvSpPr/>
          <p:nvPr/>
        </p:nvSpPr>
        <p:spPr>
          <a:xfrm>
            <a:off x="5001220" y="7877175"/>
            <a:ext cx="718393" cy="4286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82" name="Text 80"/>
          <p:cNvSpPr/>
          <p:nvPr/>
        </p:nvSpPr>
        <p:spPr>
          <a:xfrm>
            <a:off x="5096470" y="7981950"/>
            <a:ext cx="45169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</a:t>
            </a:r>
            <a:endParaRPr lang="en-US" sz="1425" dirty="0"/>
          </a:p>
        </p:txBody>
      </p:sp>
      <p:sp>
        <p:nvSpPr>
          <p:cNvPr id="83" name="Shape 81"/>
          <p:cNvSpPr/>
          <p:nvPr/>
        </p:nvSpPr>
        <p:spPr>
          <a:xfrm>
            <a:off x="5719614" y="7877175"/>
            <a:ext cx="871686" cy="4286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84" name="Text 82"/>
          <p:cNvSpPr/>
          <p:nvPr/>
        </p:nvSpPr>
        <p:spPr>
          <a:xfrm>
            <a:off x="5814864" y="7981950"/>
            <a:ext cx="64308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비율</a:t>
            </a:r>
            <a:endParaRPr lang="en-US" sz="1425" dirty="0"/>
          </a:p>
        </p:txBody>
      </p:sp>
      <p:sp>
        <p:nvSpPr>
          <p:cNvPr id="85" name="Shape 83"/>
          <p:cNvSpPr/>
          <p:nvPr/>
        </p:nvSpPr>
        <p:spPr>
          <a:xfrm>
            <a:off x="800100" y="8772525"/>
            <a:ext cx="420112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86" name="Text 84"/>
          <p:cNvSpPr/>
          <p:nvPr/>
        </p:nvSpPr>
        <p:spPr>
          <a:xfrm>
            <a:off x="933450" y="8420100"/>
            <a:ext cx="41938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</a:t>
            </a:r>
            <a:endParaRPr lang="en-US" sz="1575" dirty="0"/>
          </a:p>
        </p:txBody>
      </p:sp>
      <p:sp>
        <p:nvSpPr>
          <p:cNvPr id="87" name="Shape 85"/>
          <p:cNvSpPr/>
          <p:nvPr/>
        </p:nvSpPr>
        <p:spPr>
          <a:xfrm>
            <a:off x="5001220" y="8772525"/>
            <a:ext cx="718393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88" name="Text 86"/>
          <p:cNvSpPr/>
          <p:nvPr/>
        </p:nvSpPr>
        <p:spPr>
          <a:xfrm>
            <a:off x="5096470" y="8420100"/>
            <a:ext cx="45169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182</a:t>
            </a:r>
            <a:endParaRPr lang="en-US" sz="1575" dirty="0"/>
          </a:p>
        </p:txBody>
      </p:sp>
      <p:sp>
        <p:nvSpPr>
          <p:cNvPr id="89" name="Shape 87"/>
          <p:cNvSpPr/>
          <p:nvPr/>
        </p:nvSpPr>
        <p:spPr>
          <a:xfrm>
            <a:off x="5719614" y="8772525"/>
            <a:ext cx="871686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90" name="Text 88"/>
          <p:cNvSpPr/>
          <p:nvPr/>
        </p:nvSpPr>
        <p:spPr>
          <a:xfrm>
            <a:off x="5814864" y="8420100"/>
            <a:ext cx="64308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54%</a:t>
            </a:r>
            <a:endParaRPr lang="en-US" sz="1575" dirty="0"/>
          </a:p>
        </p:txBody>
      </p:sp>
      <p:sp>
        <p:nvSpPr>
          <p:cNvPr id="91" name="Shape 89"/>
          <p:cNvSpPr/>
          <p:nvPr/>
        </p:nvSpPr>
        <p:spPr>
          <a:xfrm>
            <a:off x="800100" y="9248775"/>
            <a:ext cx="4201120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92" name="Text 90"/>
          <p:cNvSpPr/>
          <p:nvPr/>
        </p:nvSpPr>
        <p:spPr>
          <a:xfrm>
            <a:off x="933450" y="8896350"/>
            <a:ext cx="41938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</a:t>
            </a:r>
            <a:endParaRPr lang="en-US" sz="1575" dirty="0"/>
          </a:p>
        </p:txBody>
      </p:sp>
      <p:sp>
        <p:nvSpPr>
          <p:cNvPr id="93" name="Shape 91"/>
          <p:cNvSpPr/>
          <p:nvPr/>
        </p:nvSpPr>
        <p:spPr>
          <a:xfrm>
            <a:off x="5001220" y="9248775"/>
            <a:ext cx="718393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94" name="Text 92"/>
          <p:cNvSpPr/>
          <p:nvPr/>
        </p:nvSpPr>
        <p:spPr>
          <a:xfrm>
            <a:off x="5096470" y="8896350"/>
            <a:ext cx="45169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337</a:t>
            </a:r>
            <a:endParaRPr lang="en-US" sz="1575" dirty="0"/>
          </a:p>
        </p:txBody>
      </p:sp>
      <p:sp>
        <p:nvSpPr>
          <p:cNvPr id="95" name="Shape 93"/>
          <p:cNvSpPr/>
          <p:nvPr/>
        </p:nvSpPr>
        <p:spPr>
          <a:xfrm>
            <a:off x="5719614" y="9248775"/>
            <a:ext cx="871686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96" name="Text 94"/>
          <p:cNvSpPr/>
          <p:nvPr/>
        </p:nvSpPr>
        <p:spPr>
          <a:xfrm>
            <a:off x="5814864" y="8896350"/>
            <a:ext cx="64308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1F4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</a:t>
            </a:r>
            <a:endParaRPr lang="en-US" sz="1575" dirty="0"/>
          </a:p>
        </p:txBody>
      </p:sp>
      <p:sp>
        <p:nvSpPr>
          <p:cNvPr id="97" name="Text 95"/>
          <p:cNvSpPr/>
          <p:nvPr/>
        </p:nvSpPr>
        <p:spPr>
          <a:xfrm>
            <a:off x="7124700" y="7543800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범례 · 각주 · 구분선</a:t>
            </a:r>
            <a:endParaRPr lang="en-US" sz="1425" dirty="0"/>
          </a:p>
        </p:txBody>
      </p:sp>
      <p:sp>
        <p:nvSpPr>
          <p:cNvPr id="98" name="Shape 96"/>
          <p:cNvSpPr/>
          <p:nvPr/>
        </p:nvSpPr>
        <p:spPr>
          <a:xfrm>
            <a:off x="7124700" y="7900988"/>
            <a:ext cx="190500" cy="190500"/>
          </a:xfrm>
          <a:prstGeom prst="rect">
            <a:avLst/>
          </a:prstGeom>
          <a:solidFill>
            <a:srgbClr val="1F4A6F"/>
          </a:solidFill>
          <a:ln/>
        </p:spPr>
      </p:sp>
      <p:sp>
        <p:nvSpPr>
          <p:cNvPr id="99" name="Text 97"/>
          <p:cNvSpPr/>
          <p:nvPr/>
        </p:nvSpPr>
        <p:spPr>
          <a:xfrm>
            <a:off x="7410450" y="7877175"/>
            <a:ext cx="42207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실적</a:t>
            </a:r>
            <a:endParaRPr lang="en-US" sz="1575" dirty="0"/>
          </a:p>
        </p:txBody>
      </p:sp>
      <p:sp>
        <p:nvSpPr>
          <p:cNvPr id="100" name="Shape 98"/>
          <p:cNvSpPr/>
          <p:nvPr/>
        </p:nvSpPr>
        <p:spPr>
          <a:xfrm>
            <a:off x="7965877" y="7900988"/>
            <a:ext cx="190500" cy="190500"/>
          </a:xfrm>
          <a:prstGeom prst="rect">
            <a:avLst/>
          </a:prstGeom>
          <a:solidFill>
            <a:srgbClr val="CDD6DE"/>
          </a:solidFill>
          <a:ln/>
        </p:spPr>
      </p:sp>
      <p:sp>
        <p:nvSpPr>
          <p:cNvPr id="101" name="Text 99"/>
          <p:cNvSpPr/>
          <p:nvPr/>
        </p:nvSpPr>
        <p:spPr>
          <a:xfrm>
            <a:off x="8251627" y="7877175"/>
            <a:ext cx="42207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</a:t>
            </a:r>
            <a:endParaRPr lang="en-US" sz="1575" dirty="0"/>
          </a:p>
        </p:txBody>
      </p:sp>
      <p:sp>
        <p:nvSpPr>
          <p:cNvPr id="102" name="Shape 100"/>
          <p:cNvSpPr/>
          <p:nvPr/>
        </p:nvSpPr>
        <p:spPr>
          <a:xfrm>
            <a:off x="8807053" y="7900988"/>
            <a:ext cx="190500" cy="190500"/>
          </a:xfrm>
          <a:prstGeom prst="rect">
            <a:avLst/>
          </a:prstGeom>
          <a:solidFill>
            <a:srgbClr val="A05A3C"/>
          </a:solidFill>
          <a:ln/>
        </p:spPr>
      </p:sp>
      <p:sp>
        <p:nvSpPr>
          <p:cNvPr id="103" name="Text 101"/>
          <p:cNvSpPr/>
          <p:nvPr/>
        </p:nvSpPr>
        <p:spPr>
          <a:xfrm>
            <a:off x="9092803" y="7877175"/>
            <a:ext cx="59486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1575" dirty="0"/>
          </a:p>
        </p:txBody>
      </p:sp>
      <p:sp>
        <p:nvSpPr>
          <p:cNvPr id="104" name="Shape 102"/>
          <p:cNvSpPr/>
          <p:nvPr/>
        </p:nvSpPr>
        <p:spPr>
          <a:xfrm>
            <a:off x="7124700" y="8229600"/>
            <a:ext cx="57912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105" name="Shape 103"/>
          <p:cNvSpPr/>
          <p:nvPr/>
        </p:nvSpPr>
        <p:spPr>
          <a:xfrm>
            <a:off x="7124700" y="8353425"/>
            <a:ext cx="57912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106" name="Text 104"/>
          <p:cNvSpPr/>
          <p:nvPr/>
        </p:nvSpPr>
        <p:spPr>
          <a:xfrm>
            <a:off x="7124700" y="8477250"/>
            <a:ext cx="6370320" cy="327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174"/>
              </a:lnSpc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각주는 19px · 무채색으로, 본문과 구분되게 씁니다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2026-09-07T08:46:35Z</dcterms:created>
  <dcterms:modified xsi:type="dcterms:W3CDTF">2026-09-07T08:46:35Z</dcterms:modified>
</cp:coreProperties>
</file>