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문서명·기간·작성 주체·문서번호를 한 화면에서 확인시키고 바로 요약으로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간지. 섹션 번호와 하위 논점 3개를 미리 보여줘 흐름을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지표 3개 → 결론 3개 → 판단 요청 순서로 읽습니다. 이 장만으로 보고가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officedocs content 레이아웃 프로토타입. 속지별 타이틀과 머리말만 치환되고 본문 영역은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대비 실적 추이. 막대 높이는 값에 비례하게 유지하고, 우측 요약 3줄은 차트에서 읽히지 않는 원인만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단계별 금액·건수·전환율. 병목 단계를 하나만 지목하고 대응을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하반기 실행 계획. 트랙별 담당과 마일스톤 날짜를 함께 보여 책임 소재를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리스크는 영향·가능성·대응·담당을 한 행으로. 등급 칩 색만 바꿔 재사용합니다.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요청 3건과 다음 단계. 요청은 숫자와 기한을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장표를 추가할 때 이 페이지의 도형을 복사해 쓰세요. 모두 같은 색·선 굵기 규칙을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2616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· 경영진 보고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335048" y="800100"/>
            <a:ext cx="1738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YYYY. MM. DD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00100" y="13144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4157365"/>
            <a:ext cx="13327380" cy="97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77"/>
              </a:lnSpc>
              <a:buNone/>
            </a:pPr>
            <a:r>
              <a:rPr lang="en-US" sz="5850" b="1" spc="-205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00100" y="5379095"/>
            <a:ext cx="133273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65"/>
              </a:lnSpc>
              <a:buNone/>
            </a:pPr>
            <a:r>
              <a:rPr lang="en-US" sz="2100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문서(기능)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" y="863917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001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기간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862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01 – 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723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대상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9723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· 영업임원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문서번호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0584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SLS-2026-H1-07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3168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C79A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268349" y="800100"/>
            <a:ext cx="7237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8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38638"/>
            <a:ext cx="133273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17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800100" y="5376863"/>
            <a:ext cx="121158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C3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달성률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75433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56A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681288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C3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수주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56621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56A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5653088"/>
            <a:ext cx="1716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C3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전환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0100" y="9239250"/>
            <a:ext cx="13327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8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9310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2559" y="571500"/>
            <a:ext cx="3996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상반기 104% 달성, 하반기는 금융 이월 물량이 변수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1962150"/>
            <a:ext cx="12115800" cy="15049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/ 계획 337억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47750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+4.1%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1825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089475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9475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5089475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동기 +12.6%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83551" y="1962150"/>
            <a:ext cx="4032349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201" y="217170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(가중 618억)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1201" y="2476500"/>
            <a:ext cx="38907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9131201" y="302895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만료 물량 22%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" y="37147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0606" y="3724275"/>
            <a:ext cx="9525" cy="52006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3952875"/>
            <a:ext cx="63485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" y="4333875"/>
            <a:ext cx="34141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6762" y="4333875"/>
            <a:ext cx="5494786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대형 2건 조기 마감으로 상반기 목표를 초과했습니다. 단발성 기여분 42억을 제외하면 실질 성장은 +6%입니다.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100" y="5194697"/>
            <a:ext cx="37341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8760" y="5194697"/>
            <a:ext cx="54618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3건(94억)이 예산 집행 지연으로 하반기 이월되어 3분기 매출 인식 시점이 유동적입니다.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0100" y="6055519"/>
            <a:ext cx="379809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5159" y="6055519"/>
            <a:ext cx="5455237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비중이 27%로 6%p 올라, 하반기 레퍼런스 기반 확장 여력이 확보되었습니다.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19231" y="3952875"/>
            <a:ext cx="60463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요약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19231" y="4314825"/>
            <a:ext cx="2698105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7552581" y="4429125"/>
            <a:ext cx="26456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17336" y="4314825"/>
            <a:ext cx="955477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1636" y="4429125"/>
            <a:ext cx="6506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72813" y="4314825"/>
            <a:ext cx="971996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87113" y="4429125"/>
            <a:ext cx="6671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044809" y="4314825"/>
            <a:ext cx="871091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109" y="4429125"/>
            <a:ext cx="623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419231" y="528637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7552581" y="490537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0117336" y="528637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1636" y="490537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182억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072813" y="528637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11187113" y="490537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044809" y="528637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159109" y="490537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+18%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7419231" y="5810250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581" y="542925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0117336" y="5810250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0231636" y="542925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94억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072813" y="5810250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187113" y="542925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044809" y="5810250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109" y="542925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-4%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7419231" y="633412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Text 52"/>
          <p:cNvSpPr/>
          <p:nvPr/>
        </p:nvSpPr>
        <p:spPr>
          <a:xfrm>
            <a:off x="7552581" y="595312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제조·유통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117336" y="633412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31636" y="595312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61억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072813" y="633412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Text 56"/>
          <p:cNvSpPr/>
          <p:nvPr/>
        </p:nvSpPr>
        <p:spPr>
          <a:xfrm>
            <a:off x="11187113" y="595312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2044809" y="633412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109" y="595312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+9%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7419231" y="6858000"/>
            <a:ext cx="2698105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2" name="Text 60"/>
          <p:cNvSpPr/>
          <p:nvPr/>
        </p:nvSpPr>
        <p:spPr>
          <a:xfrm>
            <a:off x="7552581" y="647700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0117336" y="6858000"/>
            <a:ext cx="955477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4" name="Text 62"/>
          <p:cNvSpPr/>
          <p:nvPr/>
        </p:nvSpPr>
        <p:spPr>
          <a:xfrm>
            <a:off x="10231636" y="647700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072813" y="6858000"/>
            <a:ext cx="97199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6" name="Text 64"/>
          <p:cNvSpPr/>
          <p:nvPr/>
        </p:nvSpPr>
        <p:spPr>
          <a:xfrm>
            <a:off x="11187113" y="647700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044809" y="6858000"/>
            <a:ext cx="871091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8" name="Text 66"/>
          <p:cNvSpPr/>
          <p:nvPr/>
        </p:nvSpPr>
        <p:spPr>
          <a:xfrm>
            <a:off x="12159109" y="647700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+11%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800100" y="9134475"/>
            <a:ext cx="12115800" cy="6572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0" name="Shape 68"/>
          <p:cNvSpPr/>
          <p:nvPr/>
        </p:nvSpPr>
        <p:spPr>
          <a:xfrm>
            <a:off x="800100" y="9134475"/>
            <a:ext cx="47625" cy="657225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71" name="Text 69"/>
          <p:cNvSpPr/>
          <p:nvPr/>
        </p:nvSpPr>
        <p:spPr>
          <a:xfrm>
            <a:off x="1095375" y="9324975"/>
            <a:ext cx="5370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하반기 금융 목표를 94억 → 70억으로 조정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448824" y="9344025"/>
            <a:ext cx="46413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이월 3건 중 2건 4분기 확정, 1건 내년 이관 협의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6616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섹션명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633448" y="571500"/>
            <a:ext cx="14106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속지별 타이틀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258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6429" y="571500"/>
            <a:ext cx="39924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매출은 6개 분기 연속 계획선 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19300"/>
            <a:ext cx="190500" cy="1905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62857" y="2019300"/>
            <a:ext cx="190500" cy="1905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9" name="Text 7"/>
          <p:cNvSpPr/>
          <p:nvPr/>
        </p:nvSpPr>
        <p:spPr>
          <a:xfrm>
            <a:off x="1948607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8469" y="2005013"/>
            <a:ext cx="8386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억원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00100" y="8829675"/>
            <a:ext cx="6760815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3051" y="7248525"/>
            <a:ext cx="3871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" y="7572375"/>
            <a:ext cx="409277" cy="12573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7477" y="7629525"/>
            <a:ext cx="409426" cy="12001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2252067" y="7115175"/>
            <a:ext cx="390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80754" y="7515225"/>
            <a:ext cx="409426" cy="131445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8280" y="7439025"/>
            <a:ext cx="409426" cy="13906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3449538" y="7019925"/>
            <a:ext cx="3570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61556" y="7400925"/>
            <a:ext cx="409426" cy="142875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20" name="Shape 18"/>
          <p:cNvSpPr/>
          <p:nvPr/>
        </p:nvSpPr>
        <p:spPr>
          <a:xfrm>
            <a:off x="3609082" y="7343775"/>
            <a:ext cx="409426" cy="14859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2779" y="6848475"/>
            <a:ext cx="392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2358" y="7248525"/>
            <a:ext cx="409426" cy="158115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89884" y="7172325"/>
            <a:ext cx="409426" cy="16573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5785991" y="6943725"/>
            <a:ext cx="40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159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23161" y="7305675"/>
            <a:ext cx="409426" cy="15240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26" name="Shape 24"/>
          <p:cNvSpPr/>
          <p:nvPr/>
        </p:nvSpPr>
        <p:spPr>
          <a:xfrm>
            <a:off x="5970687" y="7267575"/>
            <a:ext cx="409426" cy="15621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972895" y="6753225"/>
            <a:ext cx="395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03963" y="7191375"/>
            <a:ext cx="409426" cy="16383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1489" y="7077075"/>
            <a:ext cx="409426" cy="17526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972550"/>
            <a:ext cx="9330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3Q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42654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4Q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123456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1Q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4258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2Q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5061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1Q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65863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2Q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80015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408640" y="2000250"/>
            <a:ext cx="4957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08640" y="2419350"/>
            <a:ext cx="4642478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1분기 성장 둔화는 공공 예산 편성 시점 때문이며, 2분기에 조기 마감으로 회복되었습니다.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8408640" y="3310830"/>
            <a:ext cx="450726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8408640" y="3510855"/>
            <a:ext cx="17094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분기 평균 성장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301686" y="3510855"/>
            <a:ext cx="690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+7.2%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408640" y="3891855"/>
            <a:ext cx="1767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평균 편차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52275" y="3891855"/>
            <a:ext cx="739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+3.4%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408640" y="4272855"/>
            <a:ext cx="20658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변동성 (표준편차)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34602" y="4272855"/>
            <a:ext cx="457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408640" y="4653855"/>
            <a:ext cx="982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계획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567791" y="4653855"/>
            <a:ext cx="4243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175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408640" y="5092005"/>
            <a:ext cx="4507260" cy="667643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9" name="Shape 47"/>
          <p:cNvSpPr/>
          <p:nvPr/>
        </p:nvSpPr>
        <p:spPr>
          <a:xfrm>
            <a:off x="8408640" y="5092005"/>
            <a:ext cx="47625" cy="667643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50" name="Text 48"/>
          <p:cNvSpPr/>
          <p:nvPr/>
        </p:nvSpPr>
        <p:spPr>
          <a:xfrm>
            <a:off x="8665815" y="5263455"/>
            <a:ext cx="417575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3분기는 이월 물량 인식 시점에 따라 ±24억 변동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2" name="Text 50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부가세 제외 · 계획은 연초 확정 목표 기준 · 26 2Q는 6월 30일 마감 실적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488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전환율이 병목입니다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0100" y="2000250"/>
            <a:ext cx="4588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90729" y="2000250"/>
            <a:ext cx="19606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· 건수 · 전환율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915841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1" name="Text 9"/>
          <p:cNvSpPr/>
          <p:nvPr/>
        </p:nvSpPr>
        <p:spPr>
          <a:xfrm>
            <a:off x="2266950" y="2911078"/>
            <a:ext cx="1674272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 · 148건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494" y="2925366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366022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2057400" y="4185047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185047"/>
            <a:ext cx="2598837" cy="628650"/>
          </a:xfrm>
          <a:prstGeom prst="rect">
            <a:avLst/>
          </a:prstGeom>
          <a:solidFill>
            <a:srgbClr val="8E4450"/>
          </a:solidFill>
          <a:ln/>
        </p:spPr>
      </p:sp>
      <p:sp>
        <p:nvSpPr>
          <p:cNvPr id="16" name="Text 14"/>
          <p:cNvSpPr/>
          <p:nvPr/>
        </p:nvSpPr>
        <p:spPr>
          <a:xfrm>
            <a:off x="2266950" y="4361259"/>
            <a:ext cx="135258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706억 · 71건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494" y="4375547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0100" y="581620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2057400" y="5635228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5635228"/>
            <a:ext cx="1383209" cy="6286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1" name="Text 19"/>
          <p:cNvSpPr/>
          <p:nvPr/>
        </p:nvSpPr>
        <p:spPr>
          <a:xfrm>
            <a:off x="3612059" y="5811441"/>
            <a:ext cx="141687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376억 · 29건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494" y="5825728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" y="7266384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2057400" y="7085409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7085409"/>
            <a:ext cx="754410" cy="628650"/>
          </a:xfrm>
          <a:prstGeom prst="rect">
            <a:avLst/>
          </a:prstGeom>
          <a:solidFill>
            <a:srgbClr val="9A5460"/>
          </a:solidFill>
          <a:ln/>
        </p:spPr>
      </p:sp>
      <p:sp>
        <p:nvSpPr>
          <p:cNvPr id="26" name="Text 24"/>
          <p:cNvSpPr/>
          <p:nvPr/>
        </p:nvSpPr>
        <p:spPr>
          <a:xfrm>
            <a:off x="2983260" y="7261622"/>
            <a:ext cx="139526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205억 · 16건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82494" y="7275909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0100" y="8277225"/>
            <a:ext cx="6572994" cy="9239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파이프라인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90600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618억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2994273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184773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딜 규모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184773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7.7억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188446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5378946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리드타임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378946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112일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792194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0819" y="2000250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진단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0819" y="2400300"/>
            <a:ext cx="4835933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53%는 전년 61%보다 8%p 낮습니다. 하락분의 대부분은 금융 부문 3건 지연에서 발생했습니다.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8220819" y="3623221"/>
            <a:ext cx="469508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8220819" y="3804196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0819" y="4204246"/>
            <a:ext cx="31938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597354" y="4204246"/>
            <a:ext cx="37347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딜은 임원 동행 리뷰 의무화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220819" y="4700439"/>
            <a:ext cx="34870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626673" y="4700439"/>
            <a:ext cx="427007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예산 재확인 후 가중치 60% 적용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220819" y="5196632"/>
            <a:ext cx="3545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8632478" y="5196632"/>
            <a:ext cx="401337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목표를 월 12건에서 16건으로 상향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9월 1일 스냅숏 · 전환율은 직전 4개 분기 이동평균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98781" y="571500"/>
            <a:ext cx="39788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실행 로드맵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3431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200025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 · 담당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0231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260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49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7350" y="2000250"/>
            <a:ext cx="17847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898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1225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4017169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922984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클로징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800100" y="3227784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금융팀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3181350" y="2975372"/>
            <a:ext cx="4867275" cy="4191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3352800" y="2975372"/>
            <a:ext cx="4841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재확인 · 재제안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048625" y="2975372"/>
            <a:ext cx="1557486" cy="419100"/>
          </a:xfrm>
          <a:prstGeom prst="rect">
            <a:avLst/>
          </a:prstGeom>
          <a:solidFill>
            <a:srgbClr val="9A5460"/>
          </a:solidFill>
          <a:ln/>
        </p:spPr>
      </p:sp>
      <p:sp>
        <p:nvSpPr>
          <p:cNvPr id="20" name="Text 18"/>
          <p:cNvSpPr/>
          <p:nvPr/>
        </p:nvSpPr>
        <p:spPr>
          <a:xfrm>
            <a:off x="8181975" y="2975372"/>
            <a:ext cx="15003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800100" y="5691188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4597003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4분기 입찰 대응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800100" y="4901803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박지훈 · 공공팀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4738836" y="4649391"/>
            <a:ext cx="3309640" cy="4191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286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규격 대응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8048625" y="4649391"/>
            <a:ext cx="3309640" cy="4191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075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입찰 · 제안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00100" y="7365206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6271022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· 레퍼런스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800100" y="6575822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영업기획팀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181350" y="6323409"/>
            <a:ext cx="9734550" cy="41910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2325" y="6332934"/>
            <a:ext cx="98360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16건 발굴 · 레퍼런스 세미나 2회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800100" y="9039225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7945041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800100" y="8249841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사업기획실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393656" y="7997428"/>
            <a:ext cx="3309640" cy="4191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106" y="7997428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체계 재설계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800100" y="941070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181350" y="9372600"/>
            <a:ext cx="973455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8836" y="9305925"/>
            <a:ext cx="152400" cy="1524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924" y="9525000"/>
            <a:ext cx="948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8/15 재제안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8048625" y="9305925"/>
            <a:ext cx="152400" cy="1524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43" name="Text 41"/>
          <p:cNvSpPr/>
          <p:nvPr/>
        </p:nvSpPr>
        <p:spPr>
          <a:xfrm>
            <a:off x="7588091" y="9525000"/>
            <a:ext cx="1227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 단가 확정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1260931" y="9305925"/>
            <a:ext cx="152400" cy="1524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2614" y="9525000"/>
            <a:ext cx="12528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12/20 계약 마감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4643" y="571500"/>
            <a:ext cx="39943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이슈와 대응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382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1162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38350" y="2000250"/>
            <a:ext cx="3232993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2133600"/>
            <a:ext cx="30251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71343" y="2000250"/>
            <a:ext cx="14287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423743" y="2133600"/>
            <a:ext cx="1200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금액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00093" y="2000250"/>
            <a:ext cx="4310807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2493" y="2133600"/>
            <a:ext cx="41353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010900" y="2000250"/>
            <a:ext cx="190500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63300" y="2133600"/>
            <a:ext cx="167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· 기한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2194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686050"/>
            <a:ext cx="634157" cy="3429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7432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038350" y="32194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2190750" y="26860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집행 지연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71343" y="32194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23743" y="26860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-94억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700093" y="32194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2493" y="26860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중 예산 재확인, 미확정 건은 내년 이관 협의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010900" y="32194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63300" y="26860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08/15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800100" y="395287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3419475"/>
            <a:ext cx="634157" cy="3429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347662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038350" y="395287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1" name="Text 29"/>
          <p:cNvSpPr/>
          <p:nvPr/>
        </p:nvSpPr>
        <p:spPr>
          <a:xfrm>
            <a:off x="2190750" y="3419475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8%p 하락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271343" y="395287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23743" y="3419475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-56억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700093" y="395287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2493" y="3419475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 임원 동행 리뷰 의무화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010900" y="395287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7" name="Text 35"/>
          <p:cNvSpPr/>
          <p:nvPr/>
        </p:nvSpPr>
        <p:spPr>
          <a:xfrm>
            <a:off x="11163300" y="3419475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· 상시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800100" y="47053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4152900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6E2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4425" y="421957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038350" y="47053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2190750" y="4152900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대형 건 의존 (42억)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5271343" y="47053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5423743" y="4152900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6700093" y="47053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2493" y="4152900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중형 딜(3~8억) 비중을 40%까지 확대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010900" y="47053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415290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4분기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800100" y="545782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Shape 48"/>
          <p:cNvSpPr/>
          <p:nvPr/>
        </p:nvSpPr>
        <p:spPr>
          <a:xfrm>
            <a:off x="952500" y="4905375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6E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425" y="497205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038350" y="545782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3" name="Text 51"/>
          <p:cNvSpPr/>
          <p:nvPr/>
        </p:nvSpPr>
        <p:spPr>
          <a:xfrm>
            <a:off x="2190750" y="4905375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미개편으로 단가 하락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5271343" y="545782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5" name="Text 53"/>
          <p:cNvSpPr/>
          <p:nvPr/>
        </p:nvSpPr>
        <p:spPr>
          <a:xfrm>
            <a:off x="5423743" y="4905375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-18억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6700093" y="545782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7" name="Text 55"/>
          <p:cNvSpPr/>
          <p:nvPr/>
        </p:nvSpPr>
        <p:spPr>
          <a:xfrm>
            <a:off x="6852493" y="4905375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1일까지 단가 체계 재설계 완료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010900" y="545782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9" name="Text 57"/>
          <p:cNvSpPr/>
          <p:nvPr/>
        </p:nvSpPr>
        <p:spPr>
          <a:xfrm>
            <a:off x="11163300" y="490537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10/01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800100" y="61912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" y="5657850"/>
            <a:ext cx="634157" cy="3429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62" name="Text 60"/>
          <p:cNvSpPr/>
          <p:nvPr/>
        </p:nvSpPr>
        <p:spPr>
          <a:xfrm>
            <a:off x="1104900" y="57150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038350" y="61912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4" name="Text 62"/>
          <p:cNvSpPr/>
          <p:nvPr/>
        </p:nvSpPr>
        <p:spPr>
          <a:xfrm>
            <a:off x="2190750" y="56578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충원 지연 (제안 2명)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5271343" y="61912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6" name="Text 64"/>
          <p:cNvSpPr/>
          <p:nvPr/>
        </p:nvSpPr>
        <p:spPr>
          <a:xfrm>
            <a:off x="5423743" y="56578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00093" y="61912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8" name="Text 66"/>
          <p:cNvSpPr/>
          <p:nvPr/>
        </p:nvSpPr>
        <p:spPr>
          <a:xfrm>
            <a:off x="6852493" y="56578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제안 인력 단기 계약으로 보완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010900" y="61912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70" name="Text 68"/>
          <p:cNvSpPr/>
          <p:nvPr/>
        </p:nvSpPr>
        <p:spPr>
          <a:xfrm>
            <a:off x="11163300" y="56578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인사팀 · 09/30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800100" y="9182100"/>
            <a:ext cx="121158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2" name="Shape 70"/>
          <p:cNvSpPr/>
          <p:nvPr/>
        </p:nvSpPr>
        <p:spPr>
          <a:xfrm>
            <a:off x="800100" y="9182100"/>
            <a:ext cx="47625" cy="6096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73" name="Text 71"/>
          <p:cNvSpPr/>
          <p:nvPr/>
        </p:nvSpPr>
        <p:spPr>
          <a:xfrm>
            <a:off x="1076325" y="9353550"/>
            <a:ext cx="119744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2건이 하반기 목표의 68%를 좌우합니다. 8월 15일 예산 재확인 결과를 기준으로 목표를 재확정합니다.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653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 요청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요청 3건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2000250"/>
            <a:ext cx="47625" cy="1057275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381250"/>
            <a:ext cx="3635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68512" y="2233613"/>
            <a:ext cx="10969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금융 부문 목표 94억 → 70억 조정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68512" y="2586038"/>
            <a:ext cx="109694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 3건 중 2건 4분기 확정, 1건 내년 이관 협의 기준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831241" y="222885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00100" y="3209925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" y="3209925"/>
            <a:ext cx="47625" cy="1057275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4425" y="3590925"/>
            <a:ext cx="3981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3040" y="3443288"/>
            <a:ext cx="10931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인력 2명 단기 충원 (외부 계약)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3040" y="3795713"/>
            <a:ext cx="10931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공공 입찰 6건 동시 대응에 필요, 예상 비용 1.4억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831241" y="3438525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09/30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800100" y="441960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419600"/>
            <a:ext cx="47625" cy="1057275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800600"/>
            <a:ext cx="405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10035" y="4652963"/>
            <a:ext cx="109237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개편안 10월 1일 시행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10035" y="5005388"/>
            <a:ext cx="109237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하락 방어 효과 연 18억, 사업기획실 공동 검토 완료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831241" y="464820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800100" y="580072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" y="6438900"/>
            <a:ext cx="67076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47068" y="6438900"/>
            <a:ext cx="444933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재확인 결과 공유, 하반기 목표 확정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0100" y="6916043"/>
            <a:ext cx="71288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09/05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589187" y="6916043"/>
            <a:ext cx="423241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중간 점검 보고 (파이프라인 전환율 포함)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00100" y="7393186"/>
            <a:ext cx="6429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19238" y="7393186"/>
            <a:ext cx="353713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시행 및 4분기 입찰 대응 착수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853238" y="6057900"/>
            <a:ext cx="9525" cy="37338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3" name="Text 31"/>
          <p:cNvSpPr/>
          <p:nvPr/>
        </p:nvSpPr>
        <p:spPr>
          <a:xfrm>
            <a:off x="7281863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81863" y="6438900"/>
            <a:ext cx="5803059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846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영업기획팀 이수민 sumin.lee@example.com · 02-000-0000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281863" y="7303591"/>
            <a:ext cx="5803059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보고서는 9월 1일 파이프라인 스냅숏과 6월 30일 마감 실적을 기준으로 작성되었습니다.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33400"/>
            <a:ext cx="1096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949583" y="533400"/>
            <a:ext cx="2162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 추가용 도형 세트 · 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8953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칩 · 번호 배지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800100" y="1495425"/>
            <a:ext cx="726877" cy="428625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641277" y="1485900"/>
            <a:ext cx="918716" cy="447675"/>
          </a:xfrm>
          <a:prstGeom prst="rect">
            <a:avLst/>
          </a:prstGeom>
          <a:solidFill>
            <a:srgbClr val="EFEDE6"/>
          </a:solidFill>
          <a:ln w="9525">
            <a:solidFill>
              <a:srgbClr val="6E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1302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협의중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2674293" y="1495425"/>
            <a:ext cx="726877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2864793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3515469" y="1495425"/>
            <a:ext cx="899666" cy="42862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3" name="Text 11"/>
          <p:cNvSpPr/>
          <p:nvPr/>
        </p:nvSpPr>
        <p:spPr>
          <a:xfrm>
            <a:off x="3705969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4529435" y="1519238"/>
            <a:ext cx="381000" cy="3810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91335" y="151923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024735" y="1519238"/>
            <a:ext cx="381000" cy="381000"/>
          </a:xfrm>
          <a:prstGeom prst="rect">
            <a:avLst/>
          </a:prstGeom>
          <a:ln w="952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6160" y="152876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71247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· 4단계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124700" y="1495425"/>
            <a:ext cx="1242566" cy="4953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2516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628162" y="1495425"/>
            <a:ext cx="1242715" cy="495300"/>
          </a:xfrm>
          <a:prstGeom prst="rect">
            <a:avLst/>
          </a:prstGeom>
          <a:solidFill>
            <a:srgbClr val="9A5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590062" y="1628775"/>
            <a:ext cx="13189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66127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131772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3197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88638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654284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25709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콜아웃 · 판단 요청 바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800100" y="31813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3181350"/>
            <a:ext cx="47625" cy="6096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275" y="33528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한 줄로 쓰는 결론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800100" y="39052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" y="3905250"/>
            <a:ext cx="47625" cy="6096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275" y="40767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영향과 기한을 함께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71247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카드 · 3분할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7124700" y="3181350"/>
            <a:ext cx="5791200" cy="11430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Shape 37"/>
          <p:cNvSpPr/>
          <p:nvPr/>
        </p:nvSpPr>
        <p:spPr>
          <a:xfrm>
            <a:off x="712470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15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729615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9615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+4.1%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9058275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4" name="Text 42"/>
          <p:cNvSpPr/>
          <p:nvPr/>
        </p:nvSpPr>
        <p:spPr>
          <a:xfrm>
            <a:off x="9229725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229725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229725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+12.6%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099185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116330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116330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-2.0%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8001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· 퍼널 바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800100" y="569595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733550" y="571976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Shape 52"/>
          <p:cNvSpPr/>
          <p:nvPr/>
        </p:nvSpPr>
        <p:spPr>
          <a:xfrm>
            <a:off x="1733550" y="5719763"/>
            <a:ext cx="3135213" cy="1905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55" name="Text 53"/>
          <p:cNvSpPr/>
          <p:nvPr/>
        </p:nvSpPr>
        <p:spPr>
          <a:xfrm>
            <a:off x="5848350" y="569595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800100" y="6048375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733550" y="6072188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3550" y="6072188"/>
            <a:ext cx="2331244" cy="1905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59" name="Text 57"/>
          <p:cNvSpPr/>
          <p:nvPr/>
        </p:nvSpPr>
        <p:spPr>
          <a:xfrm>
            <a:off x="5848350" y="6048375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800100" y="64008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733550" y="642461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3550" y="6424613"/>
            <a:ext cx="2733229" cy="190500"/>
          </a:xfrm>
          <a:prstGeom prst="rect">
            <a:avLst/>
          </a:prstGeom>
          <a:solidFill>
            <a:srgbClr val="9A5460"/>
          </a:solidFill>
          <a:ln/>
        </p:spPr>
      </p:sp>
      <p:sp>
        <p:nvSpPr>
          <p:cNvPr id="63" name="Text 61"/>
          <p:cNvSpPr/>
          <p:nvPr/>
        </p:nvSpPr>
        <p:spPr>
          <a:xfrm>
            <a:off x="5848350" y="640080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575" dirty="0"/>
          </a:p>
        </p:txBody>
      </p:sp>
      <p:sp>
        <p:nvSpPr>
          <p:cNvPr id="64" name="Text 62"/>
          <p:cNvSpPr/>
          <p:nvPr/>
        </p:nvSpPr>
        <p:spPr>
          <a:xfrm>
            <a:off x="71247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· 간트 바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7124700" y="5791200"/>
            <a:ext cx="579120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66" name="Shape 64"/>
          <p:cNvSpPr/>
          <p:nvPr/>
        </p:nvSpPr>
        <p:spPr>
          <a:xfrm>
            <a:off x="7124700" y="5734050"/>
            <a:ext cx="133350" cy="1333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67" name="Shape 65"/>
          <p:cNvSpPr/>
          <p:nvPr/>
        </p:nvSpPr>
        <p:spPr>
          <a:xfrm>
            <a:off x="9010650" y="5734050"/>
            <a:ext cx="133350" cy="1333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896600" y="5734050"/>
            <a:ext cx="133350" cy="1333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5734050"/>
            <a:ext cx="133350" cy="1333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0" name="Text 68"/>
          <p:cNvSpPr/>
          <p:nvPr/>
        </p:nvSpPr>
        <p:spPr>
          <a:xfrm>
            <a:off x="7124700" y="5981700"/>
            <a:ext cx="332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425" dirty="0"/>
          </a:p>
        </p:txBody>
      </p:sp>
      <p:sp>
        <p:nvSpPr>
          <p:cNvPr id="71" name="Text 69"/>
          <p:cNvSpPr/>
          <p:nvPr/>
        </p:nvSpPr>
        <p:spPr>
          <a:xfrm>
            <a:off x="8933557" y="5981700"/>
            <a:ext cx="3424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425" dirty="0"/>
          </a:p>
        </p:txBody>
      </p:sp>
      <p:sp>
        <p:nvSpPr>
          <p:cNvPr id="72" name="Text 70"/>
          <p:cNvSpPr/>
          <p:nvPr/>
        </p:nvSpPr>
        <p:spPr>
          <a:xfrm>
            <a:off x="10752237" y="5981700"/>
            <a:ext cx="3436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12572256" y="5981700"/>
            <a:ext cx="4198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7124700" y="6372225"/>
            <a:ext cx="2548086" cy="32385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75" name="Text 73"/>
          <p:cNvSpPr/>
          <p:nvPr/>
        </p:nvSpPr>
        <p:spPr>
          <a:xfrm>
            <a:off x="7258050" y="6372225"/>
            <a:ext cx="24911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구간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9672786" y="6372225"/>
            <a:ext cx="1737271" cy="32385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77" name="Text 75"/>
          <p:cNvSpPr/>
          <p:nvPr/>
        </p:nvSpPr>
        <p:spPr>
          <a:xfrm>
            <a:off x="9806136" y="6372225"/>
            <a:ext cx="1680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8001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머리글 · 합계 행</a:t>
            </a:r>
            <a:endParaRPr lang="en-US" sz="1425" dirty="0"/>
          </a:p>
        </p:txBody>
      </p:sp>
      <p:sp>
        <p:nvSpPr>
          <p:cNvPr id="79" name="Shape 77"/>
          <p:cNvSpPr/>
          <p:nvPr/>
        </p:nvSpPr>
        <p:spPr>
          <a:xfrm>
            <a:off x="800100" y="7877175"/>
            <a:ext cx="4201120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0" name="Text 78"/>
          <p:cNvSpPr/>
          <p:nvPr/>
        </p:nvSpPr>
        <p:spPr>
          <a:xfrm>
            <a:off x="933450" y="7981950"/>
            <a:ext cx="41938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5001220" y="7877175"/>
            <a:ext cx="718393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2" name="Text 80"/>
          <p:cNvSpPr/>
          <p:nvPr/>
        </p:nvSpPr>
        <p:spPr>
          <a:xfrm>
            <a:off x="5096470" y="7981950"/>
            <a:ext cx="451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5719614" y="7877175"/>
            <a:ext cx="871686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4" name="Text 82"/>
          <p:cNvSpPr/>
          <p:nvPr/>
        </p:nvSpPr>
        <p:spPr>
          <a:xfrm>
            <a:off x="5814864" y="7981950"/>
            <a:ext cx="643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425" dirty="0"/>
          </a:p>
        </p:txBody>
      </p:sp>
      <p:sp>
        <p:nvSpPr>
          <p:cNvPr id="85" name="Shape 83"/>
          <p:cNvSpPr/>
          <p:nvPr/>
        </p:nvSpPr>
        <p:spPr>
          <a:xfrm>
            <a:off x="800100" y="8772525"/>
            <a:ext cx="420112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6" name="Text 84"/>
          <p:cNvSpPr/>
          <p:nvPr/>
        </p:nvSpPr>
        <p:spPr>
          <a:xfrm>
            <a:off x="933450" y="842010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5001220" y="8772525"/>
            <a:ext cx="7183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8" name="Text 86"/>
          <p:cNvSpPr/>
          <p:nvPr/>
        </p:nvSpPr>
        <p:spPr>
          <a:xfrm>
            <a:off x="5096470" y="842010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</a:t>
            </a:r>
            <a:endParaRPr lang="en-US" sz="1575" dirty="0"/>
          </a:p>
        </p:txBody>
      </p:sp>
      <p:sp>
        <p:nvSpPr>
          <p:cNvPr id="89" name="Shape 87"/>
          <p:cNvSpPr/>
          <p:nvPr/>
        </p:nvSpPr>
        <p:spPr>
          <a:xfrm>
            <a:off x="5719614" y="8772525"/>
            <a:ext cx="87168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90" name="Text 88"/>
          <p:cNvSpPr/>
          <p:nvPr/>
        </p:nvSpPr>
        <p:spPr>
          <a:xfrm>
            <a:off x="5814864" y="842010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54%</a:t>
            </a:r>
            <a:endParaRPr lang="en-US" sz="1575" dirty="0"/>
          </a:p>
        </p:txBody>
      </p:sp>
      <p:sp>
        <p:nvSpPr>
          <p:cNvPr id="91" name="Shape 89"/>
          <p:cNvSpPr/>
          <p:nvPr/>
        </p:nvSpPr>
        <p:spPr>
          <a:xfrm>
            <a:off x="800100" y="9248775"/>
            <a:ext cx="4201120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2" name="Text 90"/>
          <p:cNvSpPr/>
          <p:nvPr/>
        </p:nvSpPr>
        <p:spPr>
          <a:xfrm>
            <a:off x="933450" y="889635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575" dirty="0"/>
          </a:p>
        </p:txBody>
      </p:sp>
      <p:sp>
        <p:nvSpPr>
          <p:cNvPr id="93" name="Shape 91"/>
          <p:cNvSpPr/>
          <p:nvPr/>
        </p:nvSpPr>
        <p:spPr>
          <a:xfrm>
            <a:off x="5001220" y="9248775"/>
            <a:ext cx="718393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4" name="Text 92"/>
          <p:cNvSpPr/>
          <p:nvPr/>
        </p:nvSpPr>
        <p:spPr>
          <a:xfrm>
            <a:off x="5096470" y="889635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</a:t>
            </a:r>
            <a:endParaRPr lang="en-US" sz="1575" dirty="0"/>
          </a:p>
        </p:txBody>
      </p:sp>
      <p:sp>
        <p:nvSpPr>
          <p:cNvPr id="95" name="Shape 93"/>
          <p:cNvSpPr/>
          <p:nvPr/>
        </p:nvSpPr>
        <p:spPr>
          <a:xfrm>
            <a:off x="5719614" y="9248775"/>
            <a:ext cx="87168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6" name="Text 94"/>
          <p:cNvSpPr/>
          <p:nvPr/>
        </p:nvSpPr>
        <p:spPr>
          <a:xfrm>
            <a:off x="5814864" y="889635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E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1575" dirty="0"/>
          </a:p>
        </p:txBody>
      </p:sp>
      <p:sp>
        <p:nvSpPr>
          <p:cNvPr id="97" name="Text 95"/>
          <p:cNvSpPr/>
          <p:nvPr/>
        </p:nvSpPr>
        <p:spPr>
          <a:xfrm>
            <a:off x="71247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 · 각주 · 구분선</a:t>
            </a:r>
            <a:endParaRPr lang="en-US" sz="1425" dirty="0"/>
          </a:p>
        </p:txBody>
      </p:sp>
      <p:sp>
        <p:nvSpPr>
          <p:cNvPr id="98" name="Shape 96"/>
          <p:cNvSpPr/>
          <p:nvPr/>
        </p:nvSpPr>
        <p:spPr>
          <a:xfrm>
            <a:off x="7124700" y="7900988"/>
            <a:ext cx="190500" cy="190500"/>
          </a:xfrm>
          <a:prstGeom prst="rect">
            <a:avLst/>
          </a:prstGeom>
          <a:solidFill>
            <a:srgbClr val="6E2F3A"/>
          </a:solidFill>
          <a:ln/>
        </p:spPr>
      </p:sp>
      <p:sp>
        <p:nvSpPr>
          <p:cNvPr id="99" name="Text 97"/>
          <p:cNvSpPr/>
          <p:nvPr/>
        </p:nvSpPr>
        <p:spPr>
          <a:xfrm>
            <a:off x="7410450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75" dirty="0"/>
          </a:p>
        </p:txBody>
      </p:sp>
      <p:sp>
        <p:nvSpPr>
          <p:cNvPr id="100" name="Shape 98"/>
          <p:cNvSpPr/>
          <p:nvPr/>
        </p:nvSpPr>
        <p:spPr>
          <a:xfrm>
            <a:off x="7965877" y="7900988"/>
            <a:ext cx="190500" cy="190500"/>
          </a:xfrm>
          <a:prstGeom prst="rect">
            <a:avLst/>
          </a:prstGeom>
          <a:solidFill>
            <a:srgbClr val="DECFD1"/>
          </a:solidFill>
          <a:ln/>
        </p:spPr>
      </p:sp>
      <p:sp>
        <p:nvSpPr>
          <p:cNvPr id="101" name="Text 99"/>
          <p:cNvSpPr/>
          <p:nvPr/>
        </p:nvSpPr>
        <p:spPr>
          <a:xfrm>
            <a:off x="8251627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75" dirty="0"/>
          </a:p>
        </p:txBody>
      </p:sp>
      <p:sp>
        <p:nvSpPr>
          <p:cNvPr id="102" name="Shape 100"/>
          <p:cNvSpPr/>
          <p:nvPr/>
        </p:nvSpPr>
        <p:spPr>
          <a:xfrm>
            <a:off x="8807053" y="7900988"/>
            <a:ext cx="190500" cy="1905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03" name="Text 101"/>
          <p:cNvSpPr/>
          <p:nvPr/>
        </p:nvSpPr>
        <p:spPr>
          <a:xfrm>
            <a:off x="9092803" y="7877175"/>
            <a:ext cx="5948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7124700" y="8229600"/>
            <a:ext cx="57912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124700" y="8353425"/>
            <a:ext cx="57912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106" name="Text 104"/>
          <p:cNvSpPr/>
          <p:nvPr/>
        </p:nvSpPr>
        <p:spPr>
          <a:xfrm>
            <a:off x="7124700" y="8477250"/>
            <a:ext cx="637032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각주는 19px · 무채색으로, 본문과 구분되게 씁니다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2026-09-07T08:47:05Z</dcterms:created>
  <dcterms:modified xsi:type="dcterms:W3CDTF">2026-09-07T08:47:05Z</dcterms:modified>
</cp:coreProperties>
</file>