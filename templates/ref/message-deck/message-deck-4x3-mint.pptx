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3716000" cy="10287000"/>
  <p:notesSz cx="1028700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제목을 문장형 메시지로 쓰고, 하단에 결론 지표 3개를 미리 노출합니다.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목차. 각 장의 한 줄 결론과 페이지 범위를 함께 보여줘, 어디서 무엇이 결정되는지 미리 알려줍니다.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간지. 상단 레일에서 현재 장을 채우고, 이 장에서 다룰 논점과 페이지 범위를 명시합니다.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officedocs content 레이아웃 프로토타입. 속지별 타이틀과 머리말만 치환되고 본문 영역은 비어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현재와 목표를 나란히. 가운데 화살표로 방향을 보여주고, 아래 처방 바에 실행 문장을 한 줄로 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추이는 막대 하나로. 결론 문장을 차트 위에 두고, 오른쪽에 읽는 법 3줄을 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처방 3개. 한 줄 문장 + 담당 + 기한. 좌측 굵은 키워드로 회의 중 호명이 쉬워집니다.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장표를 추가할 때 이 페이지의 도형을 복사해 씁니다. 라운드 20px 카드, 999px 칩, 상단 레일이 이 템플릿의 기본 문법입니다.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0A6B60"/>
          </a:solidFill>
          <a:ln/>
        </p:spPr>
      </p:sp>
      <p:sp>
        <p:nvSpPr>
          <p:cNvPr id="3" name="Text 1"/>
          <p:cNvSpPr/>
          <p:nvPr/>
        </p:nvSpPr>
        <p:spPr>
          <a:xfrm>
            <a:off x="1390650" y="876300"/>
            <a:ext cx="273659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96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영업본부 · 경영진 보고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271052" y="876300"/>
            <a:ext cx="168360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99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YYYY. MM. DD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4400" y="3726507"/>
            <a:ext cx="13075920" cy="1072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91"/>
              </a:lnSpc>
              <a:buNone/>
            </a:pPr>
            <a:r>
              <a:rPr lang="en-US" sz="6900" b="1" spc="-276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6900" dirty="0"/>
          </a:p>
        </p:txBody>
      </p:sp>
      <p:sp>
        <p:nvSpPr>
          <p:cNvPr id="6" name="Text 4"/>
          <p:cNvSpPr/>
          <p:nvPr/>
        </p:nvSpPr>
        <p:spPr>
          <a:xfrm>
            <a:off x="914400" y="5084266"/>
            <a:ext cx="116747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250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문서(기능)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8105775"/>
            <a:ext cx="3860750" cy="1343025"/>
          </a:xfrm>
          <a:prstGeom prst="roundRect">
            <a:avLst>
              <a:gd name="adj" fmla="val 11348"/>
            </a:avLst>
          </a:prstGeom>
          <a:solidFill>
            <a:srgbClr val="F6F6F4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8372475"/>
            <a:ext cx="35762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달성률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219200" y="8686800"/>
            <a:ext cx="35762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71"/>
              </a:lnSpc>
              <a:buNone/>
            </a:pPr>
            <a:r>
              <a:rPr lang="en-US" sz="3900" b="1" spc="-117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104%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4927550" y="8105775"/>
            <a:ext cx="3860899" cy="1343025"/>
          </a:xfrm>
          <a:prstGeom prst="roundRect">
            <a:avLst>
              <a:gd name="adj" fmla="val 11348"/>
            </a:avLst>
          </a:prstGeom>
          <a:solidFill>
            <a:srgbClr val="EAF6F3"/>
          </a:solidFill>
          <a:ln/>
        </p:spPr>
      </p:sp>
      <p:sp>
        <p:nvSpPr>
          <p:cNvPr id="11" name="Text 9"/>
          <p:cNvSpPr/>
          <p:nvPr/>
        </p:nvSpPr>
        <p:spPr>
          <a:xfrm>
            <a:off x="5232350" y="8372475"/>
            <a:ext cx="357642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수주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5232350" y="8686800"/>
            <a:ext cx="357642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71"/>
              </a:lnSpc>
              <a:buNone/>
            </a:pPr>
            <a:r>
              <a:rPr lang="en-US" sz="3900" b="1" spc="-117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412억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8940850" y="8105775"/>
            <a:ext cx="3860750" cy="1343025"/>
          </a:xfrm>
          <a:prstGeom prst="roundRect">
            <a:avLst>
              <a:gd name="adj" fmla="val 11348"/>
            </a:avLst>
          </a:prstGeom>
          <a:solidFill>
            <a:srgbClr val="F6F6F4"/>
          </a:solidFill>
          <a:ln/>
        </p:spPr>
      </p:sp>
      <p:sp>
        <p:nvSpPr>
          <p:cNvPr id="14" name="Text 12"/>
          <p:cNvSpPr/>
          <p:nvPr/>
        </p:nvSpPr>
        <p:spPr>
          <a:xfrm>
            <a:off x="9245650" y="8372475"/>
            <a:ext cx="35762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파이프라인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9245650" y="8686800"/>
            <a:ext cx="357626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871"/>
              </a:lnSpc>
              <a:buNone/>
            </a:pPr>
            <a:r>
              <a:rPr lang="en-US" sz="3900" b="1" spc="-117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618억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102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78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2157323" y="685800"/>
            <a:ext cx="7204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08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209675"/>
            <a:ext cx="1307592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136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개의 질문과 결론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14400" y="2181225"/>
            <a:ext cx="11887200" cy="1626394"/>
          </a:xfrm>
          <a:prstGeom prst="roundRect">
            <a:avLst>
              <a:gd name="adj" fmla="val 10542"/>
            </a:avLst>
          </a:prstGeom>
          <a:solidFill>
            <a:srgbClr val="EAF6F3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742009"/>
            <a:ext cx="742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228850" y="2641997"/>
            <a:ext cx="989518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상반기 실적은 계획을 넘었나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28850" y="3080147"/>
            <a:ext cx="98951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337억 · 계획 대비 104% · 실질 성장 +6%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1529268" y="2732484"/>
            <a:ext cx="100563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03 – 04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2182177" y="3027759"/>
            <a:ext cx="3527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940969"/>
            <a:ext cx="11887200" cy="1626394"/>
          </a:xfrm>
          <a:prstGeom prst="roundRect">
            <a:avLst>
              <a:gd name="adj" fmla="val 10542"/>
            </a:avLst>
          </a:prstGeom>
          <a:solidFill>
            <a:srgbClr val="F6F6F4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4501753"/>
            <a:ext cx="742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228850" y="4401741"/>
            <a:ext cx="1039466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파이프라인은 목표를 받쳐주나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228850" y="4839891"/>
            <a:ext cx="10394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53%가 병목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1983343" y="4492228"/>
            <a:ext cx="55155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05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2210455" y="4787503"/>
            <a:ext cx="324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1장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700713"/>
            <a:ext cx="11887200" cy="1626394"/>
          </a:xfrm>
          <a:prstGeom prst="roundRect">
            <a:avLst>
              <a:gd name="adj" fmla="val 10542"/>
            </a:avLst>
          </a:prstGeom>
          <a:solidFill>
            <a:srgbClr val="F6F6F4"/>
          </a:solidFill>
          <a:ln/>
        </p:spPr>
      </p:sp>
      <p:sp>
        <p:nvSpPr>
          <p:cNvPr id="18" name="Text 16"/>
          <p:cNvSpPr/>
          <p:nvPr/>
        </p:nvSpPr>
        <p:spPr>
          <a:xfrm>
            <a:off x="1257300" y="6261497"/>
            <a:ext cx="742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2228850" y="6161484"/>
            <a:ext cx="991679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바꿀 것인가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228850" y="6599634"/>
            <a:ext cx="99167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리뷰 · 가격 · 발굴 세 가지 처방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1548914" y="6251972"/>
            <a:ext cx="98598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06 – 07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2182177" y="6547247"/>
            <a:ext cx="3527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2장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" y="7460456"/>
            <a:ext cx="11887200" cy="1626394"/>
          </a:xfrm>
          <a:prstGeom prst="roundRect">
            <a:avLst>
              <a:gd name="adj" fmla="val 10542"/>
            </a:avLst>
          </a:prstGeom>
          <a:solidFill>
            <a:srgbClr val="F6F6F4"/>
          </a:solidFill>
          <a:ln/>
        </p:spPr>
      </p:sp>
      <p:sp>
        <p:nvSpPr>
          <p:cNvPr id="24" name="Text 22"/>
          <p:cNvSpPr/>
          <p:nvPr/>
        </p:nvSpPr>
        <p:spPr>
          <a:xfrm>
            <a:off x="1257300" y="8021241"/>
            <a:ext cx="742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99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2228850" y="7921228"/>
            <a:ext cx="1039089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승인해야 하나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228850" y="8359378"/>
            <a:ext cx="103908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조정 · 인력 2명 · 가격 시행일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11979920" y="8011716"/>
            <a:ext cx="5549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08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2210455" y="8306991"/>
            <a:ext cx="3244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1장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9467850"/>
            <a:ext cx="10020002" cy="38100"/>
          </a:xfrm>
          <a:prstGeom prst="roundRect">
            <a:avLst>
              <a:gd name="adj" fmla="val 50000"/>
            </a:avLst>
          </a:prstGeom>
          <a:solidFill>
            <a:srgbClr val="EAEAE8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9467850"/>
            <a:ext cx="1252389" cy="38100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31" name="Text 29"/>
          <p:cNvSpPr/>
          <p:nvPr/>
        </p:nvSpPr>
        <p:spPr>
          <a:xfrm>
            <a:off x="11048702" y="9372600"/>
            <a:ext cx="192818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데 12분 · 결정 3건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6B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85800"/>
            <a:ext cx="1012031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123950" y="781050"/>
            <a:ext cx="6691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실적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40731" y="685800"/>
            <a:ext cx="1528316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250281" y="781050"/>
            <a:ext cx="11854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F0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파이프라인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83347" y="685800"/>
            <a:ext cx="1039713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892897" y="781050"/>
            <a:ext cx="6968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F0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처방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37361" y="685800"/>
            <a:ext cx="1043285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46911" y="781050"/>
            <a:ext cx="70038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F0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승인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151221" y="776288"/>
            <a:ext cx="72657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CF0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08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4107210"/>
            <a:ext cx="1307592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429" kern="0" dirty="0">
                <a:solidFill>
                  <a:srgbClr val="DCF0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01 · p. 03 – 04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14400" y="4669185"/>
            <a:ext cx="13075920" cy="95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600"/>
              </a:lnSpc>
              <a:buNone/>
            </a:pPr>
            <a:r>
              <a:rPr lang="en-US" sz="6300" b="1" spc="-252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제목</a:t>
            </a:r>
            <a:endParaRPr lang="en-US" sz="6300" dirty="0"/>
          </a:p>
        </p:txBody>
      </p:sp>
      <p:sp>
        <p:nvSpPr>
          <p:cNvPr id="13" name="Shape 11"/>
          <p:cNvSpPr/>
          <p:nvPr/>
        </p:nvSpPr>
        <p:spPr>
          <a:xfrm>
            <a:off x="914400" y="5855940"/>
            <a:ext cx="1768525" cy="50482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" y="5970240"/>
            <a:ext cx="13494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104%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97225" y="5855940"/>
            <a:ext cx="1906637" cy="50482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044875" y="5970240"/>
            <a:ext cx="148753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성장 +6%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818162" y="5855940"/>
            <a:ext cx="1881485" cy="504825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65812" y="5970240"/>
            <a:ext cx="14623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고객 27%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9463088"/>
            <a:ext cx="10526316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9463088"/>
            <a:ext cx="2631579" cy="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574066" y="9363075"/>
            <a:ext cx="135028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CF0E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장 중 1번째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09600"/>
            <a:ext cx="787896" cy="39052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95325"/>
            <a:ext cx="4830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장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816596" y="609600"/>
            <a:ext cx="809179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5" name="Text 3"/>
          <p:cNvSpPr/>
          <p:nvPr/>
        </p:nvSpPr>
        <p:spPr>
          <a:xfrm>
            <a:off x="2007096" y="695325"/>
            <a:ext cx="504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장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2740075" y="609600"/>
            <a:ext cx="814239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7" name="Text 5"/>
          <p:cNvSpPr/>
          <p:nvPr/>
        </p:nvSpPr>
        <p:spPr>
          <a:xfrm>
            <a:off x="2930575" y="695325"/>
            <a:ext cx="5094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장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3668613" y="609600"/>
            <a:ext cx="817662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9" name="Text 7"/>
          <p:cNvSpPr/>
          <p:nvPr/>
        </p:nvSpPr>
        <p:spPr>
          <a:xfrm>
            <a:off x="3859113" y="695325"/>
            <a:ext cx="512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장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2180987" y="690563"/>
            <a:ext cx="6968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1171575"/>
            <a:ext cx="11887200" cy="28575"/>
          </a:xfrm>
          <a:prstGeom prst="roundRect">
            <a:avLst>
              <a:gd name="adj" fmla="val 50000"/>
            </a:avLst>
          </a:prstGeom>
          <a:solidFill>
            <a:srgbClr val="EAEA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171575"/>
            <a:ext cx="5943600" cy="2857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447800"/>
            <a:ext cx="130759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프로젝트(솔루션)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1809750"/>
            <a:ext cx="1307592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136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속지별 타이틀</a:t>
            </a:r>
            <a:endParaRPr lang="en-US" sz="3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09600"/>
            <a:ext cx="939850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95325"/>
            <a:ext cx="6350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실적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968550" y="609600"/>
            <a:ext cx="1438870" cy="39052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5" name="Text 3"/>
          <p:cNvSpPr/>
          <p:nvPr/>
        </p:nvSpPr>
        <p:spPr>
          <a:xfrm>
            <a:off x="2159050" y="695325"/>
            <a:ext cx="11340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파이프라인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3521720" y="609600"/>
            <a:ext cx="970657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7" name="Text 5"/>
          <p:cNvSpPr/>
          <p:nvPr/>
        </p:nvSpPr>
        <p:spPr>
          <a:xfrm>
            <a:off x="3712220" y="695325"/>
            <a:ext cx="6658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처방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4606677" y="609600"/>
            <a:ext cx="974080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9" name="Text 7"/>
          <p:cNvSpPr/>
          <p:nvPr/>
        </p:nvSpPr>
        <p:spPr>
          <a:xfrm>
            <a:off x="4797177" y="695325"/>
            <a:ext cx="6692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승인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2186196" y="690563"/>
            <a:ext cx="6916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1171575"/>
            <a:ext cx="11887200" cy="28575"/>
          </a:xfrm>
          <a:prstGeom prst="roundRect">
            <a:avLst>
              <a:gd name="adj" fmla="val 50000"/>
            </a:avLst>
          </a:prstGeom>
          <a:solidFill>
            <a:srgbClr val="EAEA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171575"/>
            <a:ext cx="7429500" cy="2857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619250"/>
            <a:ext cx="130759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GAP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2019300"/>
            <a:ext cx="1307592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168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단계에서 8%p가 새고 있습니다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14400" y="4533007"/>
            <a:ext cx="5514082" cy="2211586"/>
          </a:xfrm>
          <a:prstGeom prst="roundRect">
            <a:avLst>
              <a:gd name="adj" fmla="val 8614"/>
            </a:avLst>
          </a:prstGeom>
          <a:solidFill>
            <a:srgbClr val="F6F6F4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4894957"/>
            <a:ext cx="52272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5400" y="5256907"/>
            <a:ext cx="52272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95400" y="6028432"/>
            <a:ext cx="52272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→ 협상 전환율 · 평균 리드타임 112일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57082" y="5386388"/>
            <a:ext cx="458986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9CD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3300" dirty="0"/>
          </a:p>
        </p:txBody>
      </p:sp>
      <p:sp>
        <p:nvSpPr>
          <p:cNvPr id="20" name="Shape 18"/>
          <p:cNvSpPr/>
          <p:nvPr/>
        </p:nvSpPr>
        <p:spPr>
          <a:xfrm>
            <a:off x="7268468" y="4523482"/>
            <a:ext cx="5533132" cy="2230636"/>
          </a:xfrm>
          <a:prstGeom prst="roundRect">
            <a:avLst>
              <a:gd name="adj" fmla="val 8540"/>
            </a:avLst>
          </a:prstGeom>
          <a:solidFill>
            <a:srgbClr val="EAF6F3"/>
          </a:solidFill>
          <a:ln w="9525">
            <a:solidFill>
              <a:srgbClr val="BFE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58993" y="4894957"/>
            <a:ext cx="52272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70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58993" y="5256907"/>
            <a:ext cx="52272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126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61%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7658993" y="6028432"/>
            <a:ext cx="522729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전년 수준 회복 · 리드타임 90일 이내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8505825"/>
            <a:ext cx="11887200" cy="1095375"/>
          </a:xfrm>
          <a:prstGeom prst="roundRect">
            <a:avLst>
              <a:gd name="adj" fmla="val 15652"/>
            </a:avLst>
          </a:prstGeom>
          <a:solidFill>
            <a:srgbClr val="EAF6F3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8882063"/>
            <a:ext cx="11833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2612082" y="8843963"/>
            <a:ext cx="9525" cy="419100"/>
          </a:xfrm>
          <a:prstGeom prst="rect">
            <a:avLst/>
          </a:prstGeom>
          <a:solidFill>
            <a:srgbClr val="BFE6DF"/>
          </a:solidFill>
          <a:ln/>
        </p:spPr>
      </p:sp>
      <p:sp>
        <p:nvSpPr>
          <p:cNvPr id="27" name="Text 25"/>
          <p:cNvSpPr/>
          <p:nvPr/>
        </p:nvSpPr>
        <p:spPr>
          <a:xfrm>
            <a:off x="2888307" y="8758238"/>
            <a:ext cx="949425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8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2888307" y="9034463"/>
            <a:ext cx="949425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3주 초과 딜은 임원 동행 리뷰를 의무화한다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1709946" y="8753475"/>
            <a:ext cx="7678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영업임원 상시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09600"/>
            <a:ext cx="939850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95325"/>
            <a:ext cx="6350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실적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968550" y="609600"/>
            <a:ext cx="1438870" cy="39052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5" name="Text 3"/>
          <p:cNvSpPr/>
          <p:nvPr/>
        </p:nvSpPr>
        <p:spPr>
          <a:xfrm>
            <a:off x="2159050" y="695325"/>
            <a:ext cx="11340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파이프라인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3521720" y="609600"/>
            <a:ext cx="970657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7" name="Text 5"/>
          <p:cNvSpPr/>
          <p:nvPr/>
        </p:nvSpPr>
        <p:spPr>
          <a:xfrm>
            <a:off x="3712220" y="695325"/>
            <a:ext cx="6658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처방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4606677" y="609600"/>
            <a:ext cx="974080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9" name="Text 7"/>
          <p:cNvSpPr/>
          <p:nvPr/>
        </p:nvSpPr>
        <p:spPr>
          <a:xfrm>
            <a:off x="4797177" y="695325"/>
            <a:ext cx="6692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승인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2182921" y="690563"/>
            <a:ext cx="69487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1171575"/>
            <a:ext cx="11887200" cy="28575"/>
          </a:xfrm>
          <a:prstGeom prst="roundRect">
            <a:avLst>
              <a:gd name="adj" fmla="val 50000"/>
            </a:avLst>
          </a:prstGeom>
          <a:solidFill>
            <a:srgbClr val="EAEA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171575"/>
            <a:ext cx="8915400" cy="2857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581150"/>
            <a:ext cx="1307592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b="1" spc="-131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 분기 연속 계획선 위, 변동성은 커지고 있습니다</a:t>
            </a:r>
            <a:endParaRPr lang="en-US" sz="3750" dirty="0"/>
          </a:p>
        </p:txBody>
      </p:sp>
      <p:sp>
        <p:nvSpPr>
          <p:cNvPr id="14" name="Shape 12"/>
          <p:cNvSpPr/>
          <p:nvPr/>
        </p:nvSpPr>
        <p:spPr>
          <a:xfrm>
            <a:off x="914400" y="2533650"/>
            <a:ext cx="7344519" cy="7067550"/>
          </a:xfrm>
          <a:prstGeom prst="roundRect">
            <a:avLst>
              <a:gd name="adj" fmla="val 2695"/>
            </a:avLst>
          </a:prstGeom>
          <a:solidFill>
            <a:srgbClr val="F6F6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57300" y="28956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0A6B60"/>
          </a:solidFill>
          <a:ln/>
        </p:spPr>
      </p:sp>
      <p:sp>
        <p:nvSpPr>
          <p:cNvPr id="16" name="Text 14"/>
          <p:cNvSpPr/>
          <p:nvPr/>
        </p:nvSpPr>
        <p:spPr>
          <a:xfrm>
            <a:off x="1495425" y="285750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034332" y="289560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D6DBD9"/>
          </a:solidFill>
          <a:ln/>
        </p:spPr>
      </p:sp>
      <p:sp>
        <p:nvSpPr>
          <p:cNvPr id="18" name="Text 16"/>
          <p:cNvSpPr/>
          <p:nvPr/>
        </p:nvSpPr>
        <p:spPr>
          <a:xfrm>
            <a:off x="2272457" y="2857500"/>
            <a:ext cx="4055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53573" y="2862263"/>
            <a:ext cx="8386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 · 억원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553468" y="5534025"/>
            <a:ext cx="3871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57300" y="5857875"/>
            <a:ext cx="427881" cy="3067050"/>
          </a:xfrm>
          <a:custGeom>
            <a:avLst/>
            <a:gdLst/>
            <a:ahLst/>
            <a:cxnLst/>
            <a:rect l="l" t="t" r="r" b="b"/>
            <a:pathLst>
              <a:path w="427881" h="3067050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3067050"/>
                </a:lnTo>
                <a:lnTo>
                  <a:pt x="0" y="30670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6DBD9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2806" y="6000750"/>
            <a:ext cx="427881" cy="2924175"/>
          </a:xfrm>
          <a:custGeom>
            <a:avLst/>
            <a:gdLst/>
            <a:ahLst/>
            <a:cxnLst/>
            <a:rect l="l" t="t" r="r" b="b"/>
            <a:pathLst>
              <a:path w="427881" h="2924175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2924175"/>
                </a:lnTo>
                <a:lnTo>
                  <a:pt x="0" y="292417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0A6B60"/>
          </a:solidFill>
          <a:ln/>
        </p:spPr>
      </p:sp>
      <p:sp>
        <p:nvSpPr>
          <p:cNvPr id="23" name="Text 21"/>
          <p:cNvSpPr/>
          <p:nvPr/>
        </p:nvSpPr>
        <p:spPr>
          <a:xfrm>
            <a:off x="2702868" y="5210175"/>
            <a:ext cx="390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408337" y="5724525"/>
            <a:ext cx="427881" cy="3200400"/>
          </a:xfrm>
          <a:custGeom>
            <a:avLst/>
            <a:gdLst/>
            <a:ahLst/>
            <a:cxnLst/>
            <a:rect l="l" t="t" r="r" b="b"/>
            <a:pathLst>
              <a:path w="427881" h="3200400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3200400"/>
                </a:lnTo>
                <a:lnTo>
                  <a:pt x="0" y="32004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6DBD9"/>
          </a:solidFill>
          <a:ln/>
        </p:spPr>
      </p:sp>
      <p:sp>
        <p:nvSpPr>
          <p:cNvPr id="25" name="Shape 23"/>
          <p:cNvSpPr/>
          <p:nvPr/>
        </p:nvSpPr>
        <p:spPr>
          <a:xfrm>
            <a:off x="2883843" y="5534025"/>
            <a:ext cx="428030" cy="3390900"/>
          </a:xfrm>
          <a:custGeom>
            <a:avLst/>
            <a:gdLst/>
            <a:ahLst/>
            <a:cxnLst/>
            <a:rect l="l" t="t" r="r" b="b"/>
            <a:pathLst>
              <a:path w="428030" h="3390900">
                <a:moveTo>
                  <a:pt x="57150" y="0"/>
                </a:moveTo>
                <a:lnTo>
                  <a:pt x="370880" y="0"/>
                </a:lnTo>
                <a:arcTo hR="57150" wR="57150" stAng="16200000" swAng="5400000"/>
                <a:lnTo>
                  <a:pt x="428030" y="3390900"/>
                </a:lnTo>
                <a:lnTo>
                  <a:pt x="0" y="33909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0A6B60"/>
          </a:solidFill>
          <a:ln/>
        </p:spPr>
      </p:sp>
      <p:sp>
        <p:nvSpPr>
          <p:cNvPr id="26" name="Text 24"/>
          <p:cNvSpPr/>
          <p:nvPr/>
        </p:nvSpPr>
        <p:spPr>
          <a:xfrm>
            <a:off x="3870722" y="4981575"/>
            <a:ext cx="3570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559522" y="5448300"/>
            <a:ext cx="427881" cy="3476625"/>
          </a:xfrm>
          <a:custGeom>
            <a:avLst/>
            <a:gdLst/>
            <a:ahLst/>
            <a:cxnLst/>
            <a:rect l="l" t="t" r="r" b="b"/>
            <a:pathLst>
              <a:path w="427881" h="3476625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3476625"/>
                </a:lnTo>
                <a:lnTo>
                  <a:pt x="0" y="347662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6DBD9"/>
          </a:solidFill>
          <a:ln/>
        </p:spPr>
      </p:sp>
      <p:sp>
        <p:nvSpPr>
          <p:cNvPr id="28" name="Shape 26"/>
          <p:cNvSpPr/>
          <p:nvPr/>
        </p:nvSpPr>
        <p:spPr>
          <a:xfrm>
            <a:off x="4035028" y="5305425"/>
            <a:ext cx="427881" cy="3619500"/>
          </a:xfrm>
          <a:custGeom>
            <a:avLst/>
            <a:gdLst/>
            <a:ahLst/>
            <a:cxnLst/>
            <a:rect l="l" t="t" r="r" b="b"/>
            <a:pathLst>
              <a:path w="427881" h="3619500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3619500"/>
                </a:lnTo>
                <a:lnTo>
                  <a:pt x="0" y="36195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0A6B60"/>
          </a:solidFill>
          <a:ln/>
        </p:spPr>
      </p:sp>
      <p:sp>
        <p:nvSpPr>
          <p:cNvPr id="29" name="Text 27"/>
          <p:cNvSpPr/>
          <p:nvPr/>
        </p:nvSpPr>
        <p:spPr>
          <a:xfrm>
            <a:off x="5004197" y="4572000"/>
            <a:ext cx="39216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168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710559" y="5076825"/>
            <a:ext cx="427881" cy="3848100"/>
          </a:xfrm>
          <a:custGeom>
            <a:avLst/>
            <a:gdLst/>
            <a:ahLst/>
            <a:cxnLst/>
            <a:rect l="l" t="t" r="r" b="b"/>
            <a:pathLst>
              <a:path w="427881" h="3848100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3848100"/>
                </a:lnTo>
                <a:lnTo>
                  <a:pt x="0" y="384810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6DBD9"/>
          </a:solidFill>
          <a:ln/>
        </p:spPr>
      </p:sp>
      <p:sp>
        <p:nvSpPr>
          <p:cNvPr id="31" name="Shape 29"/>
          <p:cNvSpPr/>
          <p:nvPr/>
        </p:nvSpPr>
        <p:spPr>
          <a:xfrm>
            <a:off x="5186065" y="4895850"/>
            <a:ext cx="427881" cy="4029075"/>
          </a:xfrm>
          <a:custGeom>
            <a:avLst/>
            <a:gdLst/>
            <a:ahLst/>
            <a:cxnLst/>
            <a:rect l="l" t="t" r="r" b="b"/>
            <a:pathLst>
              <a:path w="427881" h="4029075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4029075"/>
                </a:lnTo>
                <a:lnTo>
                  <a:pt x="0" y="402907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0A6B60"/>
          </a:solidFill>
          <a:ln/>
        </p:spPr>
      </p:sp>
      <p:sp>
        <p:nvSpPr>
          <p:cNvPr id="32" name="Text 30"/>
          <p:cNvSpPr/>
          <p:nvPr/>
        </p:nvSpPr>
        <p:spPr>
          <a:xfrm>
            <a:off x="6147643" y="4800600"/>
            <a:ext cx="4073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159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861596" y="5219700"/>
            <a:ext cx="427881" cy="3705225"/>
          </a:xfrm>
          <a:custGeom>
            <a:avLst/>
            <a:gdLst/>
            <a:ahLst/>
            <a:cxnLst/>
            <a:rect l="l" t="t" r="r" b="b"/>
            <a:pathLst>
              <a:path w="427881" h="3705225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3705225"/>
                </a:lnTo>
                <a:lnTo>
                  <a:pt x="0" y="370522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6DBD9"/>
          </a:solidFill>
          <a:ln/>
        </p:spPr>
      </p:sp>
      <p:sp>
        <p:nvSpPr>
          <p:cNvPr id="34" name="Shape 32"/>
          <p:cNvSpPr/>
          <p:nvPr/>
        </p:nvSpPr>
        <p:spPr>
          <a:xfrm>
            <a:off x="6337102" y="5124450"/>
            <a:ext cx="427881" cy="3800475"/>
          </a:xfrm>
          <a:custGeom>
            <a:avLst/>
            <a:gdLst/>
            <a:ahLst/>
            <a:cxnLst/>
            <a:rect l="l" t="t" r="r" b="b"/>
            <a:pathLst>
              <a:path w="427881" h="3800475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3800475"/>
                </a:lnTo>
                <a:lnTo>
                  <a:pt x="0" y="380047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0A6B60"/>
          </a:solidFill>
          <a:ln/>
        </p:spPr>
      </p:sp>
      <p:sp>
        <p:nvSpPr>
          <p:cNvPr id="35" name="Text 33"/>
          <p:cNvSpPr/>
          <p:nvPr/>
        </p:nvSpPr>
        <p:spPr>
          <a:xfrm>
            <a:off x="7304782" y="4343400"/>
            <a:ext cx="3951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178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012632" y="4943475"/>
            <a:ext cx="427881" cy="3981450"/>
          </a:xfrm>
          <a:custGeom>
            <a:avLst/>
            <a:gdLst/>
            <a:ahLst/>
            <a:cxnLst/>
            <a:rect l="l" t="t" r="r" b="b"/>
            <a:pathLst>
              <a:path w="427881" h="3981450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3981450"/>
                </a:lnTo>
                <a:lnTo>
                  <a:pt x="0" y="3981450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D6DBD9"/>
          </a:solidFill>
          <a:ln/>
        </p:spPr>
      </p:sp>
      <p:sp>
        <p:nvSpPr>
          <p:cNvPr id="37" name="Shape 35"/>
          <p:cNvSpPr/>
          <p:nvPr/>
        </p:nvSpPr>
        <p:spPr>
          <a:xfrm>
            <a:off x="7488138" y="4667250"/>
            <a:ext cx="427881" cy="4257675"/>
          </a:xfrm>
          <a:custGeom>
            <a:avLst/>
            <a:gdLst/>
            <a:ahLst/>
            <a:cxnLst/>
            <a:rect l="l" t="t" r="r" b="b"/>
            <a:pathLst>
              <a:path w="427881" h="4257675">
                <a:moveTo>
                  <a:pt x="57150" y="0"/>
                </a:moveTo>
                <a:lnTo>
                  <a:pt x="370731" y="0"/>
                </a:lnTo>
                <a:arcTo hR="57150" wR="57150" stAng="16200000" swAng="5400000"/>
                <a:lnTo>
                  <a:pt x="427881" y="4257675"/>
                </a:lnTo>
                <a:lnTo>
                  <a:pt x="0" y="4257675"/>
                </a:lnTo>
                <a:lnTo>
                  <a:pt x="0" y="57150"/>
                </a:lnTo>
                <a:arcTo hR="57150" wR="57150" stAng="10800000" swAng="5400000"/>
                <a:close/>
              </a:path>
            </a:pathLst>
          </a:custGeom>
          <a:solidFill>
            <a:srgbClr val="0A6B60"/>
          </a:solidFill>
          <a:ln/>
        </p:spPr>
      </p:sp>
      <p:sp>
        <p:nvSpPr>
          <p:cNvPr id="38" name="Text 36"/>
          <p:cNvSpPr/>
          <p:nvPr/>
        </p:nvSpPr>
        <p:spPr>
          <a:xfrm>
            <a:off x="1219200" y="9058275"/>
            <a:ext cx="979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3Q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2370237" y="9058275"/>
            <a:ext cx="9797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4Q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3521422" y="9058275"/>
            <a:ext cx="979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1Q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4672459" y="9058275"/>
            <a:ext cx="979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2Q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5823496" y="9058275"/>
            <a:ext cx="979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1Q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6974532" y="9058275"/>
            <a:ext cx="97958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 2Q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8639919" y="2533650"/>
            <a:ext cx="45778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240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639919" y="2914650"/>
            <a:ext cx="330398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725" dirty="0"/>
          </a:p>
        </p:txBody>
      </p:sp>
      <p:sp>
        <p:nvSpPr>
          <p:cNvPr id="46" name="Text 44"/>
          <p:cNvSpPr/>
          <p:nvPr/>
        </p:nvSpPr>
        <p:spPr>
          <a:xfrm>
            <a:off x="9046518" y="2914650"/>
            <a:ext cx="3592637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1분기 둔화는 공공 예산 편성 시점 때문</a:t>
            </a:r>
            <a:endParaRPr lang="en-US" sz="1725" dirty="0"/>
          </a:p>
        </p:txBody>
      </p:sp>
      <p:sp>
        <p:nvSpPr>
          <p:cNvPr id="47" name="Text 45"/>
          <p:cNvSpPr/>
          <p:nvPr/>
        </p:nvSpPr>
        <p:spPr>
          <a:xfrm>
            <a:off x="8639919" y="3406527"/>
            <a:ext cx="361057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9077176" y="3406527"/>
            <a:ext cx="3590999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회복분에는 일회성 42억이 포함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8639919" y="3898404"/>
            <a:ext cx="367159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9083278" y="3898404"/>
            <a:ext cx="3598039" cy="377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3분기는 이월 인식 시점에 따라 ±24억</a:t>
            </a:r>
            <a:endParaRPr lang="en-US" sz="1725" dirty="0"/>
          </a:p>
        </p:txBody>
      </p:sp>
      <p:sp>
        <p:nvSpPr>
          <p:cNvPr id="51" name="Shape 49"/>
          <p:cNvSpPr/>
          <p:nvPr/>
        </p:nvSpPr>
        <p:spPr>
          <a:xfrm>
            <a:off x="8639919" y="8553450"/>
            <a:ext cx="4161681" cy="1047750"/>
          </a:xfrm>
          <a:prstGeom prst="roundRect">
            <a:avLst>
              <a:gd name="adj" fmla="val 14545"/>
            </a:avLst>
          </a:prstGeom>
          <a:solidFill>
            <a:srgbClr val="F6F6F4"/>
          </a:solidFill>
          <a:ln/>
        </p:spPr>
      </p:sp>
      <p:sp>
        <p:nvSpPr>
          <p:cNvPr id="52" name="Text 50"/>
          <p:cNvSpPr/>
          <p:nvPr/>
        </p:nvSpPr>
        <p:spPr>
          <a:xfrm>
            <a:off x="8906619" y="8782050"/>
            <a:ext cx="17674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평균 편차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1856393" y="8782050"/>
            <a:ext cx="75470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+3.4%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8906619" y="9124950"/>
            <a:ext cx="10343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 변동성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2145566" y="9124950"/>
            <a:ext cx="46553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17.8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609600"/>
            <a:ext cx="939850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3" name="Text 1"/>
          <p:cNvSpPr/>
          <p:nvPr/>
        </p:nvSpPr>
        <p:spPr>
          <a:xfrm>
            <a:off x="1104900" y="695325"/>
            <a:ext cx="6350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실적</a:t>
            </a:r>
            <a:endParaRPr lang="en-US" sz="1425" dirty="0"/>
          </a:p>
        </p:txBody>
      </p:sp>
      <p:sp>
        <p:nvSpPr>
          <p:cNvPr id="4" name="Shape 2"/>
          <p:cNvSpPr/>
          <p:nvPr/>
        </p:nvSpPr>
        <p:spPr>
          <a:xfrm>
            <a:off x="1968550" y="609600"/>
            <a:ext cx="1434703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5" name="Text 3"/>
          <p:cNvSpPr/>
          <p:nvPr/>
        </p:nvSpPr>
        <p:spPr>
          <a:xfrm>
            <a:off x="2159050" y="695325"/>
            <a:ext cx="11299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파이프라인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3517553" y="609600"/>
            <a:ext cx="974675" cy="39052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7" name="Text 5"/>
          <p:cNvSpPr/>
          <p:nvPr/>
        </p:nvSpPr>
        <p:spPr>
          <a:xfrm>
            <a:off x="3708053" y="695325"/>
            <a:ext cx="6698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처방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4606528" y="609600"/>
            <a:ext cx="974080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9" name="Text 7"/>
          <p:cNvSpPr/>
          <p:nvPr/>
        </p:nvSpPr>
        <p:spPr>
          <a:xfrm>
            <a:off x="4797028" y="695325"/>
            <a:ext cx="6692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승인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2198400" y="690563"/>
            <a:ext cx="6794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08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1171575"/>
            <a:ext cx="11887200" cy="28575"/>
          </a:xfrm>
          <a:prstGeom prst="roundRect">
            <a:avLst>
              <a:gd name="adj" fmla="val 50000"/>
            </a:avLst>
          </a:prstGeom>
          <a:solidFill>
            <a:srgbClr val="EAEA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1171575"/>
            <a:ext cx="10401300" cy="2857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581150"/>
            <a:ext cx="130759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30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PRESCRIPTION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1962150"/>
            <a:ext cx="1307592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spc="-136" kern="0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하반기에 바꿀 것은 세 가지입니다</a:t>
            </a:r>
            <a:endParaRPr lang="en-US" sz="3900" dirty="0"/>
          </a:p>
        </p:txBody>
      </p:sp>
      <p:sp>
        <p:nvSpPr>
          <p:cNvPr id="15" name="Shape 13"/>
          <p:cNvSpPr/>
          <p:nvPr/>
        </p:nvSpPr>
        <p:spPr>
          <a:xfrm>
            <a:off x="914400" y="2933700"/>
            <a:ext cx="11887200" cy="2108150"/>
          </a:xfrm>
          <a:prstGeom prst="roundRect">
            <a:avLst>
              <a:gd name="adj" fmla="val 9036"/>
            </a:avLst>
          </a:prstGeom>
          <a:solidFill>
            <a:srgbClr val="EAF6F3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" y="3797201"/>
            <a:ext cx="1885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3257550" y="3721001"/>
            <a:ext cx="9525" cy="533400"/>
          </a:xfrm>
          <a:prstGeom prst="rect">
            <a:avLst/>
          </a:prstGeom>
          <a:solidFill>
            <a:srgbClr val="BF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3552825" y="3673376"/>
            <a:ext cx="872137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8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협상 지연 차단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3552825" y="3968651"/>
            <a:ext cx="872137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3주 초과 딜은 임원이 함께 들어간다</a:t>
            </a:r>
            <a:endParaRPr lang="en-US" sz="2175" dirty="0"/>
          </a:p>
        </p:txBody>
      </p:sp>
      <p:sp>
        <p:nvSpPr>
          <p:cNvPr id="20" name="Text 18"/>
          <p:cNvSpPr/>
          <p:nvPr/>
        </p:nvSpPr>
        <p:spPr>
          <a:xfrm>
            <a:off x="11690896" y="3687663"/>
            <a:ext cx="7678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영업임원 상시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14400" y="5213300"/>
            <a:ext cx="11887200" cy="2108299"/>
          </a:xfrm>
          <a:prstGeom prst="roundRect">
            <a:avLst>
              <a:gd name="adj" fmla="val 9036"/>
            </a:avLst>
          </a:prstGeom>
          <a:solidFill>
            <a:srgbClr val="EAF6F3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" y="6076950"/>
            <a:ext cx="1885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3257550" y="6000750"/>
            <a:ext cx="9525" cy="533400"/>
          </a:xfrm>
          <a:prstGeom prst="rect">
            <a:avLst/>
          </a:prstGeom>
          <a:solidFill>
            <a:srgbClr val="BFE6DF"/>
          </a:solidFill>
          <a:ln/>
        </p:spPr>
      </p:sp>
      <p:sp>
        <p:nvSpPr>
          <p:cNvPr id="24" name="Text 22"/>
          <p:cNvSpPr/>
          <p:nvPr/>
        </p:nvSpPr>
        <p:spPr>
          <a:xfrm>
            <a:off x="3552825" y="5953125"/>
            <a:ext cx="89116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8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단가 하락 방어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3552825" y="6248400"/>
            <a:ext cx="89116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10월 1일부터 새 단가 체계를 적용한다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1863834" y="5967413"/>
            <a:ext cx="5948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최영준 10/01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914400" y="7493050"/>
            <a:ext cx="11887200" cy="2108150"/>
          </a:xfrm>
          <a:prstGeom prst="roundRect">
            <a:avLst>
              <a:gd name="adj" fmla="val 9036"/>
            </a:avLst>
          </a:prstGeom>
          <a:solidFill>
            <a:srgbClr val="F6F6F4"/>
          </a:solidFill>
          <a:ln/>
        </p:spPr>
      </p:sp>
      <p:sp>
        <p:nvSpPr>
          <p:cNvPr id="28" name="Text 26"/>
          <p:cNvSpPr/>
          <p:nvPr/>
        </p:nvSpPr>
        <p:spPr>
          <a:xfrm>
            <a:off x="1257300" y="8356550"/>
            <a:ext cx="1885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FUNNEL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3257550" y="8280350"/>
            <a:ext cx="9525" cy="533400"/>
          </a:xfrm>
          <a:prstGeom prst="rect">
            <a:avLst/>
          </a:prstGeom>
          <a:solidFill>
            <a:srgbClr val="DEDEDA"/>
          </a:solidFill>
          <a:ln/>
        </p:spPr>
      </p:sp>
      <p:sp>
        <p:nvSpPr>
          <p:cNvPr id="30" name="Text 28"/>
          <p:cNvSpPr/>
          <p:nvPr/>
        </p:nvSpPr>
        <p:spPr>
          <a:xfrm>
            <a:off x="3552825" y="8232725"/>
            <a:ext cx="891160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228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중형 딜 확대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3552825" y="8528000"/>
            <a:ext cx="891160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발굴 목표를 12건에서 16건으로 올린다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1863834" y="8247013"/>
            <a:ext cx="5948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6000"/>
              </a:lnSpc>
              <a:buNone/>
            </a:pPr>
            <a:r>
              <a:rPr lang="en-US" sz="1575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이수민 4분기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71500"/>
            <a:ext cx="125923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spc="378" kern="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TOOLKIT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10295781" y="571500"/>
            <a:ext cx="27564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 추가용 도형 세트 · 08 / 08</a:t>
            </a:r>
            <a:endParaRPr lang="en-US" sz="1575" dirty="0"/>
          </a:p>
        </p:txBody>
      </p:sp>
      <p:sp>
        <p:nvSpPr>
          <p:cNvPr id="4" name="Text 2"/>
          <p:cNvSpPr/>
          <p:nvPr/>
        </p:nvSpPr>
        <p:spPr>
          <a:xfrm>
            <a:off x="914400" y="1133475"/>
            <a:ext cx="62445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 레일 · 진행 바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914400" y="1466850"/>
            <a:ext cx="787896" cy="39052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1552575"/>
            <a:ext cx="4830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장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797546" y="1466850"/>
            <a:ext cx="809179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8" name="Text 6"/>
          <p:cNvSpPr/>
          <p:nvPr/>
        </p:nvSpPr>
        <p:spPr>
          <a:xfrm>
            <a:off x="1988046" y="1552575"/>
            <a:ext cx="5043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장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2701975" y="1466850"/>
            <a:ext cx="814239" cy="390525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10" name="Text 8"/>
          <p:cNvSpPr/>
          <p:nvPr/>
        </p:nvSpPr>
        <p:spPr>
          <a:xfrm>
            <a:off x="2892475" y="1552575"/>
            <a:ext cx="5094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장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5970687" y="1547813"/>
            <a:ext cx="69681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1971675"/>
            <a:ext cx="5676900" cy="28575"/>
          </a:xfrm>
          <a:prstGeom prst="roundRect">
            <a:avLst>
              <a:gd name="adj" fmla="val 50000"/>
            </a:avLst>
          </a:prstGeom>
          <a:solidFill>
            <a:srgbClr val="EAEAE8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1971675"/>
            <a:ext cx="2838450" cy="28575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14" name="Text 12"/>
          <p:cNvSpPr/>
          <p:nvPr/>
        </p:nvSpPr>
        <p:spPr>
          <a:xfrm>
            <a:off x="7124700" y="1133475"/>
            <a:ext cx="62445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칩 · 배지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7124700" y="1466850"/>
            <a:ext cx="748457" cy="419100"/>
          </a:xfrm>
          <a:prstGeom prst="roundRect">
            <a:avLst>
              <a:gd name="adj" fmla="val 50000"/>
            </a:avLst>
          </a:prstGeom>
          <a:solidFill>
            <a:srgbClr val="0A6B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34250" y="15621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68407" y="1466850"/>
            <a:ext cx="913061" cy="419100"/>
          </a:xfrm>
          <a:prstGeom prst="roundRect">
            <a:avLst>
              <a:gd name="adj" fmla="val 50000"/>
            </a:avLst>
          </a:prstGeom>
          <a:solidFill>
            <a:srgbClr val="EAF6F3"/>
          </a:solidFill>
          <a:ln/>
        </p:spPr>
      </p:sp>
      <p:sp>
        <p:nvSpPr>
          <p:cNvPr id="18" name="Text 16"/>
          <p:cNvSpPr/>
          <p:nvPr/>
        </p:nvSpPr>
        <p:spPr>
          <a:xfrm>
            <a:off x="8177957" y="1562100"/>
            <a:ext cx="5701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협의중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976717" y="1466850"/>
            <a:ext cx="748457" cy="419100"/>
          </a:xfrm>
          <a:prstGeom prst="roundRect">
            <a:avLst>
              <a:gd name="adj" fmla="val 50000"/>
            </a:avLst>
          </a:prstGeom>
          <a:solidFill>
            <a:srgbClr val="F1F1EE"/>
          </a:solidFill>
          <a:ln/>
        </p:spPr>
      </p:sp>
      <p:sp>
        <p:nvSpPr>
          <p:cNvPr id="20" name="Text 18"/>
          <p:cNvSpPr/>
          <p:nvPr/>
        </p:nvSpPr>
        <p:spPr>
          <a:xfrm>
            <a:off x="9186267" y="1562100"/>
            <a:ext cx="4055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820424" y="1466850"/>
            <a:ext cx="913061" cy="419100"/>
          </a:xfrm>
          <a:prstGeom prst="roundRect">
            <a:avLst>
              <a:gd name="adj" fmla="val 50000"/>
            </a:avLst>
          </a:prstGeom>
          <a:solidFill>
            <a:srgbClr val="FBEDE7"/>
          </a:solidFill>
          <a:ln/>
        </p:spPr>
      </p:sp>
      <p:sp>
        <p:nvSpPr>
          <p:cNvPr id="22" name="Text 20"/>
          <p:cNvSpPr/>
          <p:nvPr/>
        </p:nvSpPr>
        <p:spPr>
          <a:xfrm>
            <a:off x="10029974" y="1562100"/>
            <a:ext cx="5701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2552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828734" y="1485900"/>
            <a:ext cx="381000" cy="381000"/>
          </a:xfrm>
          <a:prstGeom prst="roundRect">
            <a:avLst>
              <a:gd name="adj" fmla="val 30000"/>
            </a:avLst>
          </a:prstGeom>
          <a:solidFill>
            <a:srgbClr val="0A6B60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0634" y="148590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3609975"/>
            <a:ext cx="62445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처방 바 (키워드 + 문장 + 담당)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914400" y="3943350"/>
            <a:ext cx="5676900" cy="990600"/>
          </a:xfrm>
          <a:prstGeom prst="roundRect">
            <a:avLst>
              <a:gd name="adj" fmla="val 17308"/>
            </a:avLst>
          </a:prstGeom>
          <a:solidFill>
            <a:srgbClr val="EAF6F3"/>
          </a:solidFill>
          <a:ln/>
        </p:spPr>
      </p:sp>
      <p:sp>
        <p:nvSpPr>
          <p:cNvPr id="27" name="Text 25"/>
          <p:cNvSpPr/>
          <p:nvPr/>
        </p:nvSpPr>
        <p:spPr>
          <a:xfrm>
            <a:off x="1200150" y="4276725"/>
            <a:ext cx="14668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KEYWORD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2762250" y="4248150"/>
            <a:ext cx="9525" cy="381000"/>
          </a:xfrm>
          <a:prstGeom prst="rect">
            <a:avLst/>
          </a:prstGeom>
          <a:solidFill>
            <a:srgbClr val="BFE6DF"/>
          </a:solidFill>
          <a:ln/>
        </p:spPr>
      </p:sp>
      <p:sp>
        <p:nvSpPr>
          <p:cNvPr id="29" name="Text 27"/>
          <p:cNvSpPr/>
          <p:nvPr/>
        </p:nvSpPr>
        <p:spPr>
          <a:xfrm>
            <a:off x="3000375" y="4295775"/>
            <a:ext cx="30219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줄로 쓰는 실행 문장</a:t>
            </a:r>
            <a:endParaRPr lang="en-US" sz="1875" dirty="0"/>
          </a:p>
        </p:txBody>
      </p:sp>
      <p:sp>
        <p:nvSpPr>
          <p:cNvPr id="30" name="Text 28"/>
          <p:cNvSpPr/>
          <p:nvPr/>
        </p:nvSpPr>
        <p:spPr>
          <a:xfrm>
            <a:off x="5899993" y="4152900"/>
            <a:ext cx="40555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기한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24700" y="3609975"/>
            <a:ext cx="62445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카드 · 화살표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7124700" y="3952875"/>
            <a:ext cx="2546003" cy="1038225"/>
          </a:xfrm>
          <a:prstGeom prst="roundRect">
            <a:avLst>
              <a:gd name="adj" fmla="val 16514"/>
            </a:avLst>
          </a:prstGeom>
          <a:solidFill>
            <a:srgbClr val="F6F6F4"/>
          </a:solidFill>
          <a:ln/>
        </p:spPr>
      </p:sp>
      <p:sp>
        <p:nvSpPr>
          <p:cNvPr id="33" name="Text 31"/>
          <p:cNvSpPr/>
          <p:nvPr/>
        </p:nvSpPr>
        <p:spPr>
          <a:xfrm>
            <a:off x="7353300" y="4143375"/>
            <a:ext cx="229768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7353300" y="4419600"/>
            <a:ext cx="22976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53%</a:t>
            </a:r>
            <a:endParaRPr lang="en-US" sz="2550" dirty="0"/>
          </a:p>
        </p:txBody>
      </p:sp>
      <p:sp>
        <p:nvSpPr>
          <p:cNvPr id="35" name="Text 33"/>
          <p:cNvSpPr/>
          <p:nvPr/>
        </p:nvSpPr>
        <p:spPr>
          <a:xfrm>
            <a:off x="9823103" y="4300538"/>
            <a:ext cx="3372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9CD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0236547" y="3943350"/>
            <a:ext cx="2565053" cy="1057275"/>
          </a:xfrm>
          <a:prstGeom prst="roundRect">
            <a:avLst>
              <a:gd name="adj" fmla="val 16216"/>
            </a:avLst>
          </a:prstGeom>
          <a:solidFill>
            <a:srgbClr val="EAF6F3"/>
          </a:solidFill>
          <a:ln w="9525">
            <a:solidFill>
              <a:srgbClr val="BFE6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74672" y="4143375"/>
            <a:ext cx="229768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0474672" y="4419600"/>
            <a:ext cx="229768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61%</a:t>
            </a:r>
            <a:endParaRPr lang="en-US" sz="2550" dirty="0"/>
          </a:p>
        </p:txBody>
      </p:sp>
      <p:sp>
        <p:nvSpPr>
          <p:cNvPr id="39" name="Text 37"/>
          <p:cNvSpPr/>
          <p:nvPr/>
        </p:nvSpPr>
        <p:spPr>
          <a:xfrm>
            <a:off x="914400" y="6610350"/>
            <a:ext cx="62445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카드 · 막대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914400" y="6943725"/>
            <a:ext cx="2133600" cy="1038225"/>
          </a:xfrm>
          <a:prstGeom prst="roundRect">
            <a:avLst>
              <a:gd name="adj" fmla="val 14679"/>
            </a:avLst>
          </a:prstGeom>
          <a:solidFill>
            <a:srgbClr val="F6F6F4"/>
          </a:solidFill>
          <a:ln/>
        </p:spPr>
      </p:sp>
      <p:sp>
        <p:nvSpPr>
          <p:cNvPr id="41" name="Text 39"/>
          <p:cNvSpPr/>
          <p:nvPr/>
        </p:nvSpPr>
        <p:spPr>
          <a:xfrm>
            <a:off x="1143000" y="7134225"/>
            <a:ext cx="18440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143000" y="7410450"/>
            <a:ext cx="18440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337억</a:t>
            </a:r>
            <a:endParaRPr lang="en-US" sz="2550" dirty="0"/>
          </a:p>
        </p:txBody>
      </p:sp>
      <p:sp>
        <p:nvSpPr>
          <p:cNvPr id="43" name="Shape 41"/>
          <p:cNvSpPr/>
          <p:nvPr/>
        </p:nvSpPr>
        <p:spPr>
          <a:xfrm>
            <a:off x="3181350" y="6943725"/>
            <a:ext cx="2133600" cy="1038225"/>
          </a:xfrm>
          <a:prstGeom prst="roundRect">
            <a:avLst>
              <a:gd name="adj" fmla="val 14679"/>
            </a:avLst>
          </a:prstGeom>
          <a:solidFill>
            <a:srgbClr val="EAF6F3"/>
          </a:solidFill>
          <a:ln/>
        </p:spPr>
      </p:sp>
      <p:sp>
        <p:nvSpPr>
          <p:cNvPr id="44" name="Text 42"/>
          <p:cNvSpPr/>
          <p:nvPr/>
        </p:nvSpPr>
        <p:spPr>
          <a:xfrm>
            <a:off x="3409950" y="7134225"/>
            <a:ext cx="184404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3409950" y="7410450"/>
            <a:ext cx="18440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A6B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104%</a:t>
            </a:r>
            <a:endParaRPr lang="en-US" sz="2550" dirty="0"/>
          </a:p>
        </p:txBody>
      </p:sp>
      <p:sp>
        <p:nvSpPr>
          <p:cNvPr id="46" name="Shape 44"/>
          <p:cNvSpPr/>
          <p:nvPr/>
        </p:nvSpPr>
        <p:spPr>
          <a:xfrm>
            <a:off x="5448300" y="7324725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47625" y="0"/>
                </a:moveTo>
                <a:lnTo>
                  <a:pt x="295275" y="0"/>
                </a:lnTo>
                <a:arcTo hR="47625" wR="47625" stAng="16200000" swAng="5400000"/>
                <a:lnTo>
                  <a:pt x="342900" y="457200"/>
                </a:lnTo>
                <a:lnTo>
                  <a:pt x="0" y="457200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D6DBD9"/>
          </a:solidFill>
          <a:ln/>
        </p:spPr>
      </p:sp>
      <p:sp>
        <p:nvSpPr>
          <p:cNvPr id="47" name="Shape 45"/>
          <p:cNvSpPr/>
          <p:nvPr/>
        </p:nvSpPr>
        <p:spPr>
          <a:xfrm>
            <a:off x="5848350" y="7153275"/>
            <a:ext cx="342900" cy="628650"/>
          </a:xfrm>
          <a:custGeom>
            <a:avLst/>
            <a:gdLst/>
            <a:ahLst/>
            <a:cxnLst/>
            <a:rect l="l" t="t" r="r" b="b"/>
            <a:pathLst>
              <a:path w="342900" h="628650">
                <a:moveTo>
                  <a:pt x="47625" y="0"/>
                </a:moveTo>
                <a:lnTo>
                  <a:pt x="295275" y="0"/>
                </a:lnTo>
                <a:arcTo hR="47625" wR="47625" stAng="16200000" swAng="5400000"/>
                <a:lnTo>
                  <a:pt x="342900" y="628650"/>
                </a:lnTo>
                <a:lnTo>
                  <a:pt x="0" y="628650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0A6B60"/>
          </a:solidFill>
          <a:ln/>
        </p:spPr>
      </p:sp>
      <p:sp>
        <p:nvSpPr>
          <p:cNvPr id="48" name="Shape 46"/>
          <p:cNvSpPr/>
          <p:nvPr/>
        </p:nvSpPr>
        <p:spPr>
          <a:xfrm>
            <a:off x="6248400" y="6943725"/>
            <a:ext cx="342900" cy="838200"/>
          </a:xfrm>
          <a:custGeom>
            <a:avLst/>
            <a:gdLst/>
            <a:ahLst/>
            <a:cxnLst/>
            <a:rect l="l" t="t" r="r" b="b"/>
            <a:pathLst>
              <a:path w="342900" h="838200">
                <a:moveTo>
                  <a:pt x="47625" y="0"/>
                </a:moveTo>
                <a:lnTo>
                  <a:pt x="295275" y="0"/>
                </a:lnTo>
                <a:arcTo hR="47625" wR="47625" stAng="16200000" swAng="5400000"/>
                <a:lnTo>
                  <a:pt x="342900" y="838200"/>
                </a:lnTo>
                <a:lnTo>
                  <a:pt x="0" y="838200"/>
                </a:lnTo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0A6B60"/>
          </a:solidFill>
          <a:ln/>
        </p:spPr>
      </p:sp>
      <p:sp>
        <p:nvSpPr>
          <p:cNvPr id="49" name="Text 47"/>
          <p:cNvSpPr/>
          <p:nvPr/>
        </p:nvSpPr>
        <p:spPr>
          <a:xfrm>
            <a:off x="7124700" y="6610350"/>
            <a:ext cx="62445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228" kern="0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 행 · 페이지 범위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7124700" y="6943725"/>
            <a:ext cx="5676900" cy="971550"/>
          </a:xfrm>
          <a:prstGeom prst="roundRect">
            <a:avLst>
              <a:gd name="adj" fmla="val 17647"/>
            </a:avLst>
          </a:prstGeom>
          <a:solidFill>
            <a:srgbClr val="F6F6F4"/>
          </a:solidFill>
          <a:ln/>
        </p:spPr>
      </p:sp>
      <p:sp>
        <p:nvSpPr>
          <p:cNvPr id="51" name="Text 49"/>
          <p:cNvSpPr/>
          <p:nvPr/>
        </p:nvSpPr>
        <p:spPr>
          <a:xfrm>
            <a:off x="7391400" y="7239000"/>
            <a:ext cx="6096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550" dirty="0"/>
          </a:p>
        </p:txBody>
      </p:sp>
      <p:sp>
        <p:nvSpPr>
          <p:cNvPr id="52" name="Text 50"/>
          <p:cNvSpPr/>
          <p:nvPr/>
        </p:nvSpPr>
        <p:spPr>
          <a:xfrm>
            <a:off x="8153400" y="7153275"/>
            <a:ext cx="36000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 제목</a:t>
            </a:r>
            <a:endParaRPr lang="en-US" sz="1875" dirty="0"/>
          </a:p>
        </p:txBody>
      </p:sp>
      <p:sp>
        <p:nvSpPr>
          <p:cNvPr id="53" name="Text 51"/>
          <p:cNvSpPr/>
          <p:nvPr/>
        </p:nvSpPr>
        <p:spPr>
          <a:xfrm>
            <a:off x="8153400" y="7477125"/>
            <a:ext cx="36000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A50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결론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1654730" y="7315200"/>
            <a:ext cx="9563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 05 – 06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914400" y="9496425"/>
            <a:ext cx="130759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696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 · 먹색 #17181B / 본문 #4A5057 / 보조 #64696F / 포인트 #0A6B60 / 틴트 #EAF6F3 / 패널 #F6F6F4 · 라운드 카드 20px, 칩 999px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2026-09-07T09:06:39Z</dcterms:created>
  <dcterms:modified xsi:type="dcterms:W3CDTF">2026-09-07T09:06:39Z</dcterms:modified>
</cp:coreProperties>
</file>